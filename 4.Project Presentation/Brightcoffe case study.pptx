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4"/>
  </p:sldMasterIdLst>
  <p:notesMasterIdLst>
    <p:notesMasterId r:id="rId18"/>
  </p:notesMasterIdLst>
  <p:handoutMasterIdLst>
    <p:handoutMasterId r:id="rId19"/>
  </p:handoutMasterIdLst>
  <p:sldIdLst>
    <p:sldId id="400" r:id="rId5"/>
    <p:sldId id="391" r:id="rId6"/>
    <p:sldId id="418" r:id="rId7"/>
    <p:sldId id="411" r:id="rId8"/>
    <p:sldId id="412" r:id="rId9"/>
    <p:sldId id="413" r:id="rId10"/>
    <p:sldId id="415" r:id="rId11"/>
    <p:sldId id="416" r:id="rId12"/>
    <p:sldId id="417" r:id="rId13"/>
    <p:sldId id="414" r:id="rId14"/>
    <p:sldId id="398" r:id="rId15"/>
    <p:sldId id="404" r:id="rId16"/>
    <p:sldId id="28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3FB5CA-BD6A-544C-8785-13FEF742F22D}" v="110" dt="2026-03-29T21:45:49.702"/>
    <p1510:client id="{32FB1362-BF21-DDFD-02AB-AA84D13EBF24}" v="308" dt="2026-03-29T15:05:00.996"/>
    <p1510:client id="{38A1ED9C-0BEC-13BF-840B-A41500AC7835}" v="139" dt="2026-03-29T18:27:55.032"/>
    <p1510:client id="{47E388A1-8F03-1348-9E7D-48795B491847}" v="283" dt="2026-03-29T14:29:12.181"/>
    <p1510:client id="{4EDA0161-E1A3-AA41-A9F5-C7503B7BFEDC}" v="240" dt="2026-03-29T14:46:32.504"/>
    <p1510:client id="{54CD9D61-3985-EC4F-A859-7C61CAC3A0ED}" v="3" dt="2026-03-29T15:13:47.496"/>
    <p1510:client id="{5E341C78-D9CB-F0BB-5AF7-340AF2BBBBF7}" v="799" dt="2026-03-29T22:19:16.787"/>
    <p1510:client id="{6F077A07-C601-F74A-BECB-502EACB8AFC7}" v="25" dt="2026-03-29T19:58:17.108"/>
    <p1510:client id="{74DB3111-D0E1-F502-E726-A02ED48E009A}" v="310" dt="2026-03-29T15:41:17.499"/>
    <p1510:client id="{9BD9594C-51C0-F547-AF61-09BF04A5DD93}" v="1" dt="2026-03-29T21:22:09.798"/>
    <p1510:client id="{9D82F467-FB76-4F4D-A86E-3CB9CA941A0A}" v="35" dt="2026-03-29T15:08:24.080"/>
    <p1510:client id="{AD0571D3-7A46-124E-A68E-23F701733A6C}" v="107" dt="2026-03-29T20:27:36.760"/>
    <p1510:client id="{C8DD4A2E-D612-3D40-A245-7ADD37DF0841}" v="35" dt="2026-03-29T20:52:10.633"/>
    <p1510:client id="{ED770D39-6CCB-364B-9960-C09289A5E8D0}" v="82" dt="2026-03-29T20:19:43.899"/>
    <p1510:client id="{F0AB13AA-6098-464C-8083-8A53889FB2B0}" v="84" dt="2026-03-29T14:23:26.730"/>
    <p1510:client id="{F28EECC3-1B00-3444-8FCC-EC0807199995}" v="4" dt="2026-03-29T22:01:40.974"/>
    <p1510:client id="{F62C6191-0A26-8640-8578-3FE4A7A1DD66}" v="93" dt="2026-03-29T21:55:35.6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https://buanacbw-my.sharepoint.com/personal/201900163_buan_ac_bw/Documents/BCS_case__study_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buanacbw-my.sharepoint.com/personal/201900163_buan_ac_bw/Documents/BCS_case__study_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buanacbw-my.sharepoint.com/personal/201900163_buan_ac_bw/Documents/BCS_case__study_1.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buanacbw-my.sharepoint.com/personal/201900163_buan_ac_bw/Documents/BCS_case__study_1.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buanacbw-my.sharepoint.com/personal/201900163_buan_ac_bw/Documents/BCS_case__study_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buanacbw-my.sharepoint.com/personal/201900163_buan_ac_bw/Documents/BCS_case__study_1.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buanacbw-my.sharepoint.com/personal/201900163_buan_ac_bw/Documents/BCS_case__study_1.xlsx"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[BCS_case__study_1.xlsx]Store Contribution to Revenue!PivotTable2</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Store Contribution to Revenue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s>
    <c:plotArea>
      <c:layout/>
      <c:doughnutChart>
        <c:varyColors val="1"/>
        <c:ser>
          <c:idx val="0"/>
          <c:order val="0"/>
          <c:tx>
            <c:strRef>
              <c:f>'Store Contribution to Revenue'!$B$2</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01DF-4015-9271-ADBDD4065E81}"/>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01DF-4015-9271-ADBDD4065E81}"/>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01DF-4015-9271-ADBDD4065E81}"/>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'Store Contribution to Revenue'!$A$3:$A$6</c:f>
              <c:strCache>
                <c:ptCount val="3"/>
                <c:pt idx="0">
                  <c:v>Astoria</c:v>
                </c:pt>
                <c:pt idx="1">
                  <c:v>Hell's Kitchen</c:v>
                </c:pt>
                <c:pt idx="2">
                  <c:v>Lower Manhattan</c:v>
                </c:pt>
              </c:strCache>
            </c:strRef>
          </c:cat>
          <c:val>
            <c:numRef>
              <c:f>'Store Contribution to Revenue'!$B$3:$B$6</c:f>
              <c:numCache>
                <c:formatCode>[$R-430]#,##0.00</c:formatCode>
                <c:ptCount val="3"/>
                <c:pt idx="0">
                  <c:v>232243.91000000975</c:v>
                </c:pt>
                <c:pt idx="1">
                  <c:v>236511.17000000973</c:v>
                </c:pt>
                <c:pt idx="2">
                  <c:v>230057.25000000748</c:v>
                </c:pt>
              </c:numCache>
            </c:numRef>
          </c:val>
          <c:extLst>
            <c:ext xmlns:c16="http://schemas.microsoft.com/office/drawing/2014/chart" uri="{C3380CC4-5D6E-409C-BE32-E72D297353CC}">
              <c16:uniqueId val="{00000006-01DF-4015-9271-ADBDD4065E81}"/>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[BCS_case__study_1.xlsx]Monthly Revenue By Store!PivotTable1</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Monthly Revenue By Store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'Monthly Revenue By Store'!$B$2:$B$3</c:f>
              <c:strCache>
                <c:ptCount val="1"/>
                <c:pt idx="0">
                  <c:v>Jan</c:v>
                </c:pt>
              </c:strCache>
            </c:strRef>
          </c:tx>
          <c:spPr>
            <a:solidFill>
              <a:schemeClr val="accent1"/>
            </a:solidFill>
            <a:ln>
              <a:noFill/>
            </a:ln>
            <a:effectLst/>
          </c:spPr>
          <c:invertIfNegative val="0"/>
          <c:cat>
            <c:strRef>
              <c:f>'Monthly Revenue By Store'!$A$4:$A$7</c:f>
              <c:strCache>
                <c:ptCount val="3"/>
                <c:pt idx="0">
                  <c:v>Astoria</c:v>
                </c:pt>
                <c:pt idx="1">
                  <c:v>Hell's Kitchen</c:v>
                </c:pt>
                <c:pt idx="2">
                  <c:v>Lower Manhattan</c:v>
                </c:pt>
              </c:strCache>
            </c:strRef>
          </c:cat>
          <c:val>
            <c:numRef>
              <c:f>'Monthly Revenue By Store'!$B$4:$B$7</c:f>
              <c:numCache>
                <c:formatCode>[$R-1C09]#,##0.00</c:formatCode>
                <c:ptCount val="3"/>
                <c:pt idx="0">
                  <c:v>27313.660000000076</c:v>
                </c:pt>
                <c:pt idx="1">
                  <c:v>27820.649999999969</c:v>
                </c:pt>
                <c:pt idx="2">
                  <c:v>26543.429999999942</c:v>
                </c:pt>
              </c:numCache>
            </c:numRef>
          </c:val>
          <c:extLst>
            <c:ext xmlns:c16="http://schemas.microsoft.com/office/drawing/2014/chart" uri="{C3380CC4-5D6E-409C-BE32-E72D297353CC}">
              <c16:uniqueId val="{00000000-5B73-474F-BAD8-862B86BC4969}"/>
            </c:ext>
          </c:extLst>
        </c:ser>
        <c:ser>
          <c:idx val="1"/>
          <c:order val="1"/>
          <c:tx>
            <c:strRef>
              <c:f>'Monthly Revenue By Store'!$C$2:$C$3</c:f>
              <c:strCache>
                <c:ptCount val="1"/>
                <c:pt idx="0">
                  <c:v>Feb</c:v>
                </c:pt>
              </c:strCache>
            </c:strRef>
          </c:tx>
          <c:spPr>
            <a:solidFill>
              <a:schemeClr val="accent2"/>
            </a:solidFill>
            <a:ln>
              <a:noFill/>
            </a:ln>
            <a:effectLst/>
          </c:spPr>
          <c:invertIfNegative val="0"/>
          <c:cat>
            <c:strRef>
              <c:f>'Monthly Revenue By Store'!$A$4:$A$7</c:f>
              <c:strCache>
                <c:ptCount val="3"/>
                <c:pt idx="0">
                  <c:v>Astoria</c:v>
                </c:pt>
                <c:pt idx="1">
                  <c:v>Hell's Kitchen</c:v>
                </c:pt>
                <c:pt idx="2">
                  <c:v>Lower Manhattan</c:v>
                </c:pt>
              </c:strCache>
            </c:strRef>
          </c:cat>
          <c:val>
            <c:numRef>
              <c:f>'Monthly Revenue By Store'!$C$4:$C$7</c:f>
              <c:numCache>
                <c:formatCode>[$R-1C09]#,##0.00</c:formatCode>
                <c:ptCount val="3"/>
                <c:pt idx="0">
                  <c:v>25105.340000000077</c:v>
                </c:pt>
                <c:pt idx="1">
                  <c:v>25719.799999999963</c:v>
                </c:pt>
                <c:pt idx="2">
                  <c:v>25320.049999999905</c:v>
                </c:pt>
              </c:numCache>
            </c:numRef>
          </c:val>
          <c:extLst>
            <c:ext xmlns:c16="http://schemas.microsoft.com/office/drawing/2014/chart" uri="{C3380CC4-5D6E-409C-BE32-E72D297353CC}">
              <c16:uniqueId val="{00000001-5B73-474F-BAD8-862B86BC4969}"/>
            </c:ext>
          </c:extLst>
        </c:ser>
        <c:ser>
          <c:idx val="2"/>
          <c:order val="2"/>
          <c:tx>
            <c:strRef>
              <c:f>'Monthly Revenue By Store'!$D$2:$D$3</c:f>
              <c:strCache>
                <c:ptCount val="1"/>
                <c:pt idx="0">
                  <c:v>Mar</c:v>
                </c:pt>
              </c:strCache>
            </c:strRef>
          </c:tx>
          <c:spPr>
            <a:solidFill>
              <a:schemeClr val="accent3"/>
            </a:solidFill>
            <a:ln>
              <a:noFill/>
            </a:ln>
            <a:effectLst/>
          </c:spPr>
          <c:invertIfNegative val="0"/>
          <c:cat>
            <c:strRef>
              <c:f>'Monthly Revenue By Store'!$A$4:$A$7</c:f>
              <c:strCache>
                <c:ptCount val="3"/>
                <c:pt idx="0">
                  <c:v>Astoria</c:v>
                </c:pt>
                <c:pt idx="1">
                  <c:v>Hell's Kitchen</c:v>
                </c:pt>
                <c:pt idx="2">
                  <c:v>Lower Manhattan</c:v>
                </c:pt>
              </c:strCache>
            </c:strRef>
          </c:cat>
          <c:val>
            <c:numRef>
              <c:f>'Monthly Revenue By Store'!$D$4:$D$7</c:f>
              <c:numCache>
                <c:formatCode>[$R-1C09]#,##0.00</c:formatCode>
                <c:ptCount val="3"/>
                <c:pt idx="0">
                  <c:v>32835.430000000029</c:v>
                </c:pt>
                <c:pt idx="1">
                  <c:v>33110.569999999854</c:v>
                </c:pt>
                <c:pt idx="2">
                  <c:v>32888.679999999811</c:v>
                </c:pt>
              </c:numCache>
            </c:numRef>
          </c:val>
          <c:extLst>
            <c:ext xmlns:c16="http://schemas.microsoft.com/office/drawing/2014/chart" uri="{C3380CC4-5D6E-409C-BE32-E72D297353CC}">
              <c16:uniqueId val="{00000002-5B73-474F-BAD8-862B86BC4969}"/>
            </c:ext>
          </c:extLst>
        </c:ser>
        <c:ser>
          <c:idx val="3"/>
          <c:order val="3"/>
          <c:tx>
            <c:strRef>
              <c:f>'Monthly Revenue By Store'!$E$2:$E$3</c:f>
              <c:strCache>
                <c:ptCount val="1"/>
                <c:pt idx="0">
                  <c:v>Apr</c:v>
                </c:pt>
              </c:strCache>
            </c:strRef>
          </c:tx>
          <c:spPr>
            <a:solidFill>
              <a:schemeClr val="accent4"/>
            </a:solidFill>
            <a:ln>
              <a:noFill/>
            </a:ln>
            <a:effectLst/>
          </c:spPr>
          <c:invertIfNegative val="0"/>
          <c:cat>
            <c:strRef>
              <c:f>'Monthly Revenue By Store'!$A$4:$A$7</c:f>
              <c:strCache>
                <c:ptCount val="3"/>
                <c:pt idx="0">
                  <c:v>Astoria</c:v>
                </c:pt>
                <c:pt idx="1">
                  <c:v>Hell's Kitchen</c:v>
                </c:pt>
                <c:pt idx="2">
                  <c:v>Lower Manhattan</c:v>
                </c:pt>
              </c:strCache>
            </c:strRef>
          </c:cat>
          <c:val>
            <c:numRef>
              <c:f>'Monthly Revenue By Store'!$E$4:$E$7</c:f>
              <c:numCache>
                <c:formatCode>[$R-1C09]#,##0.00</c:formatCode>
                <c:ptCount val="3"/>
                <c:pt idx="0">
                  <c:v>39477.609999999833</c:v>
                </c:pt>
                <c:pt idx="1">
                  <c:v>40304.139999999745</c:v>
                </c:pt>
                <c:pt idx="2">
                  <c:v>39159.329999999653</c:v>
                </c:pt>
              </c:numCache>
            </c:numRef>
          </c:val>
          <c:extLst>
            <c:ext xmlns:c16="http://schemas.microsoft.com/office/drawing/2014/chart" uri="{C3380CC4-5D6E-409C-BE32-E72D297353CC}">
              <c16:uniqueId val="{00000003-5B73-474F-BAD8-862B86BC4969}"/>
            </c:ext>
          </c:extLst>
        </c:ser>
        <c:ser>
          <c:idx val="4"/>
          <c:order val="4"/>
          <c:tx>
            <c:strRef>
              <c:f>'Monthly Revenue By Store'!$F$2:$F$3</c:f>
              <c:strCache>
                <c:ptCount val="1"/>
                <c:pt idx="0">
                  <c:v>May</c:v>
                </c:pt>
              </c:strCache>
            </c:strRef>
          </c:tx>
          <c:spPr>
            <a:solidFill>
              <a:schemeClr val="accent5"/>
            </a:solidFill>
            <a:ln>
              <a:noFill/>
            </a:ln>
            <a:effectLst/>
          </c:spPr>
          <c:invertIfNegative val="0"/>
          <c:cat>
            <c:strRef>
              <c:f>'Monthly Revenue By Store'!$A$4:$A$7</c:f>
              <c:strCache>
                <c:ptCount val="3"/>
                <c:pt idx="0">
                  <c:v>Astoria</c:v>
                </c:pt>
                <c:pt idx="1">
                  <c:v>Hell's Kitchen</c:v>
                </c:pt>
                <c:pt idx="2">
                  <c:v>Lower Manhattan</c:v>
                </c:pt>
              </c:strCache>
            </c:strRef>
          </c:cat>
          <c:val>
            <c:numRef>
              <c:f>'Monthly Revenue By Store'!$F$4:$F$7</c:f>
              <c:numCache>
                <c:formatCode>[$R-1C09]#,##0.00</c:formatCode>
                <c:ptCount val="3"/>
                <c:pt idx="0">
                  <c:v>52428.759999999318</c:v>
                </c:pt>
                <c:pt idx="1">
                  <c:v>52598.929999999375</c:v>
                </c:pt>
                <c:pt idx="2">
                  <c:v>51700.069999999592</c:v>
                </c:pt>
              </c:numCache>
            </c:numRef>
          </c:val>
          <c:extLst>
            <c:ext xmlns:c16="http://schemas.microsoft.com/office/drawing/2014/chart" uri="{C3380CC4-5D6E-409C-BE32-E72D297353CC}">
              <c16:uniqueId val="{00000004-5B73-474F-BAD8-862B86BC4969}"/>
            </c:ext>
          </c:extLst>
        </c:ser>
        <c:ser>
          <c:idx val="5"/>
          <c:order val="5"/>
          <c:tx>
            <c:strRef>
              <c:f>'Monthly Revenue By Store'!$G$2:$G$3</c:f>
              <c:strCache>
                <c:ptCount val="1"/>
                <c:pt idx="0">
                  <c:v>Jun</c:v>
                </c:pt>
              </c:strCache>
            </c:strRef>
          </c:tx>
          <c:spPr>
            <a:solidFill>
              <a:schemeClr val="accent6"/>
            </a:solidFill>
            <a:ln>
              <a:noFill/>
            </a:ln>
            <a:effectLst/>
          </c:spPr>
          <c:invertIfNegative val="0"/>
          <c:cat>
            <c:strRef>
              <c:f>'Monthly Revenue By Store'!$A$4:$A$7</c:f>
              <c:strCache>
                <c:ptCount val="3"/>
                <c:pt idx="0">
                  <c:v>Astoria</c:v>
                </c:pt>
                <c:pt idx="1">
                  <c:v>Hell's Kitchen</c:v>
                </c:pt>
                <c:pt idx="2">
                  <c:v>Lower Manhattan</c:v>
                </c:pt>
              </c:strCache>
            </c:strRef>
          </c:cat>
          <c:val>
            <c:numRef>
              <c:f>'Monthly Revenue By Store'!$G$4:$G$7</c:f>
              <c:numCache>
                <c:formatCode>[$R-1C09]#,##0.00</c:formatCode>
                <c:ptCount val="3"/>
                <c:pt idx="0">
                  <c:v>55083.109999999266</c:v>
                </c:pt>
                <c:pt idx="1">
                  <c:v>56957.079999999347</c:v>
                </c:pt>
                <c:pt idx="2">
                  <c:v>54445.689999999653</c:v>
                </c:pt>
              </c:numCache>
            </c:numRef>
          </c:val>
          <c:extLst>
            <c:ext xmlns:c16="http://schemas.microsoft.com/office/drawing/2014/chart" uri="{C3380CC4-5D6E-409C-BE32-E72D297353CC}">
              <c16:uniqueId val="{00000005-5B73-474F-BAD8-862B86BC4969}"/>
            </c:ext>
          </c:extLst>
        </c:ser>
        <c:dLbls>
          <c:showLegendKey val="0"/>
          <c:showVal val="0"/>
          <c:showCatName val="0"/>
          <c:showSerName val="0"/>
          <c:showPercent val="0"/>
          <c:showBubbleSize val="0"/>
        </c:dLbls>
        <c:gapWidth val="219"/>
        <c:axId val="1211424263"/>
        <c:axId val="1211726343"/>
      </c:barChart>
      <c:catAx>
        <c:axId val="1211424263"/>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Store Location</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11726343"/>
        <c:crosses val="autoZero"/>
        <c:auto val="1"/>
        <c:lblAlgn val="ctr"/>
        <c:lblOffset val="100"/>
        <c:noMultiLvlLbl val="0"/>
      </c:catAx>
      <c:valAx>
        <c:axId val="1211726343"/>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Revenue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R-1C09]#,##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1142426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[BCS_case__study_1.xlsx]Revenue Vs Number of Sales!PivotTable4</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Revenue Vs Number of Sales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'Revenue Vs Number of Sales'!$B$2</c:f>
              <c:strCache>
                <c:ptCount val="1"/>
                <c:pt idx="0">
                  <c:v>Sum of Revenue</c:v>
                </c:pt>
              </c:strCache>
            </c:strRef>
          </c:tx>
          <c:spPr>
            <a:solidFill>
              <a:schemeClr val="accent1"/>
            </a:solidFill>
            <a:ln>
              <a:noFill/>
            </a:ln>
            <a:effectLst/>
          </c:spPr>
          <c:invertIfNegative val="0"/>
          <c:cat>
            <c:strRef>
              <c:f>'Revenue Vs Number of Sales'!$A$3:$A$9</c:f>
              <c:strCache>
                <c:ptCount val="6"/>
                <c:pt idx="0">
                  <c:v>Jan</c:v>
                </c:pt>
                <c:pt idx="1">
                  <c:v>Feb</c:v>
                </c:pt>
                <c:pt idx="2">
                  <c:v>Mar</c:v>
                </c:pt>
                <c:pt idx="3">
                  <c:v>Apr</c:v>
                </c:pt>
                <c:pt idx="4">
                  <c:v>May</c:v>
                </c:pt>
                <c:pt idx="5">
                  <c:v>Jun</c:v>
                </c:pt>
              </c:strCache>
            </c:strRef>
          </c:cat>
          <c:val>
            <c:numRef>
              <c:f>'Revenue Vs Number of Sales'!$B$3:$B$9</c:f>
              <c:numCache>
                <c:formatCode>[$R-1C09]#,##0.00</c:formatCode>
                <c:ptCount val="6"/>
                <c:pt idx="0">
                  <c:v>81677.739999999278</c:v>
                </c:pt>
                <c:pt idx="1">
                  <c:v>76145.18999999958</c:v>
                </c:pt>
                <c:pt idx="2">
                  <c:v>98834.680000000008</c:v>
                </c:pt>
                <c:pt idx="3">
                  <c:v>118941.08000000106</c:v>
                </c:pt>
                <c:pt idx="4">
                  <c:v>156727.76000000449</c:v>
                </c:pt>
                <c:pt idx="5">
                  <c:v>166485.88000000533</c:v>
                </c:pt>
              </c:numCache>
            </c:numRef>
          </c:val>
          <c:extLst>
            <c:ext xmlns:c16="http://schemas.microsoft.com/office/drawing/2014/chart" uri="{C3380CC4-5D6E-409C-BE32-E72D297353CC}">
              <c16:uniqueId val="{00000000-9D10-4466-B985-8B9A0FD594E4}"/>
            </c:ext>
          </c:extLst>
        </c:ser>
        <c:dLbls>
          <c:showLegendKey val="0"/>
          <c:showVal val="0"/>
          <c:showCatName val="0"/>
          <c:showSerName val="0"/>
          <c:showPercent val="0"/>
          <c:showBubbleSize val="0"/>
        </c:dLbls>
        <c:gapWidth val="150"/>
        <c:axId val="1193149959"/>
        <c:axId val="1193164807"/>
      </c:barChart>
      <c:lineChart>
        <c:grouping val="standard"/>
        <c:varyColors val="0"/>
        <c:ser>
          <c:idx val="1"/>
          <c:order val="1"/>
          <c:tx>
            <c:strRef>
              <c:f>'Revenue Vs Number of Sales'!$C$2</c:f>
              <c:strCache>
                <c:ptCount val="1"/>
                <c:pt idx="0">
                  <c:v>Number of Sales</c:v>
                </c:pt>
              </c:strCache>
            </c:strRef>
          </c:tx>
          <c:spPr>
            <a:ln w="28575" cap="rnd">
              <a:solidFill>
                <a:schemeClr val="accent2"/>
              </a:solidFill>
              <a:round/>
            </a:ln>
            <a:effectLst/>
          </c:spPr>
          <c:marker>
            <c:symbol val="none"/>
          </c:marker>
          <c:cat>
            <c:strRef>
              <c:f>'Revenue Vs Number of Sales'!$A$3:$A$9</c:f>
              <c:strCache>
                <c:ptCount val="6"/>
                <c:pt idx="0">
                  <c:v>Jan</c:v>
                </c:pt>
                <c:pt idx="1">
                  <c:v>Feb</c:v>
                </c:pt>
                <c:pt idx="2">
                  <c:v>Mar</c:v>
                </c:pt>
                <c:pt idx="3">
                  <c:v>Apr</c:v>
                </c:pt>
                <c:pt idx="4">
                  <c:v>May</c:v>
                </c:pt>
                <c:pt idx="5">
                  <c:v>Jun</c:v>
                </c:pt>
              </c:strCache>
            </c:strRef>
          </c:cat>
          <c:val>
            <c:numRef>
              <c:f>'Revenue Vs Number of Sales'!$C$3:$C$9</c:f>
              <c:numCache>
                <c:formatCode>General</c:formatCode>
                <c:ptCount val="6"/>
                <c:pt idx="0">
                  <c:v>17314</c:v>
                </c:pt>
                <c:pt idx="1">
                  <c:v>16359</c:v>
                </c:pt>
                <c:pt idx="2">
                  <c:v>21229</c:v>
                </c:pt>
                <c:pt idx="3">
                  <c:v>25335</c:v>
                </c:pt>
                <c:pt idx="4">
                  <c:v>33527</c:v>
                </c:pt>
                <c:pt idx="5">
                  <c:v>35352</c:v>
                </c:pt>
              </c:numCache>
            </c:numRef>
          </c:val>
          <c:smooth val="0"/>
          <c:extLst>
            <c:ext xmlns:c16="http://schemas.microsoft.com/office/drawing/2014/chart" uri="{C3380CC4-5D6E-409C-BE32-E72D297353CC}">
              <c16:uniqueId val="{00000001-9D10-4466-B985-8B9A0FD594E4}"/>
            </c:ext>
          </c:extLst>
        </c:ser>
        <c:dLbls>
          <c:showLegendKey val="0"/>
          <c:showVal val="0"/>
          <c:showCatName val="0"/>
          <c:showSerName val="0"/>
          <c:showPercent val="0"/>
          <c:showBubbleSize val="0"/>
        </c:dLbls>
        <c:marker val="1"/>
        <c:smooth val="0"/>
        <c:axId val="884801031"/>
        <c:axId val="802787335"/>
      </c:lineChart>
      <c:catAx>
        <c:axId val="1193149959"/>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Months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3164807"/>
        <c:crosses val="autoZero"/>
        <c:auto val="1"/>
        <c:lblAlgn val="ctr"/>
        <c:lblOffset val="100"/>
        <c:noMultiLvlLbl val="0"/>
      </c:catAx>
      <c:valAx>
        <c:axId val="119316480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Revenue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R-1C09]#,##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3149959"/>
        <c:crosses val="autoZero"/>
        <c:crossBetween val="between"/>
      </c:valAx>
      <c:valAx>
        <c:axId val="802787335"/>
        <c:scaling>
          <c:orientation val="minMax"/>
        </c:scaling>
        <c:delete val="0"/>
        <c:axPos val="r"/>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 of Sales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84801031"/>
        <c:crosses val="max"/>
        <c:crossBetween val="between"/>
      </c:valAx>
      <c:catAx>
        <c:axId val="884801031"/>
        <c:scaling>
          <c:orientation val="minMax"/>
        </c:scaling>
        <c:delete val="1"/>
        <c:axPos val="b"/>
        <c:numFmt formatCode="General" sourceLinked="1"/>
        <c:majorTickMark val="out"/>
        <c:minorTickMark val="none"/>
        <c:tickLblPos val="nextTo"/>
        <c:crossAx val="802787335"/>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[BCS_case__study_1.xlsx]Top Products By Revenue!PivotTable5</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Top 10 Products By Revenue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'Top Products By Revenue'!$B$2</c:f>
              <c:strCache>
                <c:ptCount val="1"/>
                <c:pt idx="0">
                  <c:v>Total</c:v>
                </c:pt>
              </c:strCache>
            </c:strRef>
          </c:tx>
          <c:spPr>
            <a:solidFill>
              <a:schemeClr val="accent1"/>
            </a:solidFill>
            <a:ln>
              <a:noFill/>
            </a:ln>
            <a:effectLst/>
          </c:spPr>
          <c:invertIfNegative val="0"/>
          <c:cat>
            <c:strRef>
              <c:f>'Top Products By Revenue'!$A$3:$A$13</c:f>
              <c:strCache>
                <c:ptCount val="10"/>
                <c:pt idx="0">
                  <c:v>Brazilian Lg</c:v>
                </c:pt>
                <c:pt idx="1">
                  <c:v>Cappuccino</c:v>
                </c:pt>
                <c:pt idx="2">
                  <c:v>Cappuccino Lg</c:v>
                </c:pt>
                <c:pt idx="3">
                  <c:v>Dark chocolate Lg</c:v>
                </c:pt>
                <c:pt idx="4">
                  <c:v>Jamaican Coffee River Lg</c:v>
                </c:pt>
                <c:pt idx="5">
                  <c:v>Latte</c:v>
                </c:pt>
                <c:pt idx="6">
                  <c:v>Latte Rg</c:v>
                </c:pt>
                <c:pt idx="7">
                  <c:v>Morning Sunrise Chai Lg</c:v>
                </c:pt>
                <c:pt idx="8">
                  <c:v>Sustainably Grown Organic Lg</c:v>
                </c:pt>
                <c:pt idx="9">
                  <c:v>Sustainably Grown Organic Rg</c:v>
                </c:pt>
              </c:strCache>
            </c:strRef>
          </c:cat>
          <c:val>
            <c:numRef>
              <c:f>'Top Products By Revenue'!$B$3:$B$13</c:f>
              <c:numCache>
                <c:formatCode>[$R-432]#,##0.00</c:formatCode>
                <c:ptCount val="10"/>
                <c:pt idx="0">
                  <c:v>15109.5</c:v>
                </c:pt>
                <c:pt idx="1">
                  <c:v>15997.5</c:v>
                </c:pt>
                <c:pt idx="2">
                  <c:v>17641.75</c:v>
                </c:pt>
                <c:pt idx="3">
                  <c:v>21006</c:v>
                </c:pt>
                <c:pt idx="4">
                  <c:v>16481.25</c:v>
                </c:pt>
                <c:pt idx="5">
                  <c:v>17257.5</c:v>
                </c:pt>
                <c:pt idx="6">
                  <c:v>19112.25</c:v>
                </c:pt>
                <c:pt idx="7">
                  <c:v>17384</c:v>
                </c:pt>
                <c:pt idx="8">
                  <c:v>21151.75</c:v>
                </c:pt>
                <c:pt idx="9">
                  <c:v>16233.75</c:v>
                </c:pt>
              </c:numCache>
            </c:numRef>
          </c:val>
          <c:extLst>
            <c:ext xmlns:c16="http://schemas.microsoft.com/office/drawing/2014/chart" uri="{C3380CC4-5D6E-409C-BE32-E72D297353CC}">
              <c16:uniqueId val="{00000000-C6CD-40EB-8465-696DEAE7A678}"/>
            </c:ext>
          </c:extLst>
        </c:ser>
        <c:dLbls>
          <c:showLegendKey val="0"/>
          <c:showVal val="0"/>
          <c:showCatName val="0"/>
          <c:showSerName val="0"/>
          <c:showPercent val="0"/>
          <c:showBubbleSize val="0"/>
        </c:dLbls>
        <c:gapWidth val="182"/>
        <c:axId val="1275001352"/>
        <c:axId val="1188791303"/>
      </c:barChart>
      <c:catAx>
        <c:axId val="1275001352"/>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Product detail</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88791303"/>
        <c:crosses val="autoZero"/>
        <c:auto val="1"/>
        <c:lblAlgn val="ctr"/>
        <c:lblOffset val="100"/>
        <c:noMultiLvlLbl val="0"/>
      </c:catAx>
      <c:valAx>
        <c:axId val="1188791303"/>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Revenue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R-432]#,##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50013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[BCS_case__study_1.xlsx]Product Strategy by Store!PivotTable6</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Product Strategy By Store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w="19050">
            <a:solidFill>
              <a:schemeClr val="lt1"/>
            </a:solidFill>
          </a:ln>
          <a:effectLst/>
        </c:spPr>
      </c:pivotFmt>
      <c:pivotFmt>
        <c:idx val="21"/>
        <c:spPr>
          <a:solidFill>
            <a:schemeClr val="accent1"/>
          </a:solidFill>
          <a:ln w="19050">
            <a:solidFill>
              <a:schemeClr val="lt1"/>
            </a:solidFill>
          </a:ln>
          <a:effectLst/>
        </c:spPr>
      </c:pivotFmt>
      <c:pivotFmt>
        <c:idx val="22"/>
        <c:spPr>
          <a:solidFill>
            <a:schemeClr val="accent1"/>
          </a:solidFill>
          <a:ln w="19050">
            <a:solidFill>
              <a:schemeClr val="lt1"/>
            </a:solidFill>
          </a:ln>
          <a:effectLst/>
        </c:spPr>
      </c:pivotFmt>
      <c:pivotFmt>
        <c:idx val="23"/>
      </c:pivotFmt>
      <c:pivotFmt>
        <c:idx val="24"/>
        <c:spPr>
          <a:solidFill>
            <a:schemeClr val="accent2"/>
          </a:solidFill>
          <a:ln w="19050">
            <a:solidFill>
              <a:schemeClr val="lt1"/>
            </a:solidFill>
          </a:ln>
          <a:effectLst/>
        </c:spPr>
      </c:pivotFmt>
      <c:pivotFmt>
        <c:idx val="25"/>
        <c:spPr>
          <a:solidFill>
            <a:schemeClr val="accent2"/>
          </a:solidFill>
          <a:ln w="19050">
            <a:solidFill>
              <a:schemeClr val="lt1"/>
            </a:solidFill>
          </a:ln>
          <a:effectLst/>
        </c:spPr>
      </c:pivotFmt>
      <c:pivotFmt>
        <c:idx val="26"/>
        <c:spPr>
          <a:solidFill>
            <a:schemeClr val="accent2"/>
          </a:solidFill>
          <a:ln w="19050">
            <a:solidFill>
              <a:schemeClr val="lt1"/>
            </a:solidFill>
          </a:ln>
          <a:effectLst/>
        </c:spPr>
      </c:pivotFmt>
      <c:pivotFmt>
        <c:idx val="27"/>
      </c:pivotFmt>
      <c:pivotFmt>
        <c:idx val="28"/>
        <c:spPr>
          <a:solidFill>
            <a:schemeClr val="accent3"/>
          </a:solidFill>
          <a:ln w="19050">
            <a:solidFill>
              <a:schemeClr val="lt1"/>
            </a:solidFill>
          </a:ln>
          <a:effectLst/>
        </c:spPr>
      </c:pivotFmt>
      <c:pivotFmt>
        <c:idx val="29"/>
        <c:spPr>
          <a:solidFill>
            <a:schemeClr val="accent3"/>
          </a:solidFill>
          <a:ln w="19050">
            <a:solidFill>
              <a:schemeClr val="lt1"/>
            </a:solidFill>
          </a:ln>
          <a:effectLst/>
        </c:spPr>
      </c:pivotFmt>
      <c:pivotFmt>
        <c:idx val="30"/>
        <c:spPr>
          <a:solidFill>
            <a:schemeClr val="accent3"/>
          </a:solidFill>
          <a:ln w="19050">
            <a:solidFill>
              <a:schemeClr val="lt1"/>
            </a:solidFill>
          </a:ln>
          <a:effectLst/>
        </c:spPr>
      </c:pivotFmt>
      <c:pivotFmt>
        <c:idx val="31"/>
      </c:pivotFmt>
      <c:pivotFmt>
        <c:idx val="32"/>
        <c:spPr>
          <a:solidFill>
            <a:schemeClr val="accent4"/>
          </a:solidFill>
          <a:ln w="19050">
            <a:solidFill>
              <a:schemeClr val="lt1"/>
            </a:solidFill>
          </a:ln>
          <a:effectLst/>
        </c:spPr>
      </c:pivotFmt>
      <c:pivotFmt>
        <c:idx val="33"/>
        <c:spPr>
          <a:solidFill>
            <a:schemeClr val="accent4"/>
          </a:solidFill>
          <a:ln w="19050">
            <a:solidFill>
              <a:schemeClr val="lt1"/>
            </a:solidFill>
          </a:ln>
          <a:effectLst/>
        </c:spPr>
      </c:pivotFmt>
      <c:pivotFmt>
        <c:idx val="34"/>
        <c:spPr>
          <a:solidFill>
            <a:schemeClr val="accent4"/>
          </a:solidFill>
          <a:ln w="19050">
            <a:solidFill>
              <a:schemeClr val="lt1"/>
            </a:solidFill>
          </a:ln>
          <a:effectLst/>
        </c:spPr>
      </c:pivotFmt>
      <c:pivotFmt>
        <c:idx val="35"/>
      </c:pivotFmt>
      <c:pivotFmt>
        <c:idx val="36"/>
        <c:spPr>
          <a:solidFill>
            <a:schemeClr val="accent5"/>
          </a:solidFill>
          <a:ln w="19050">
            <a:solidFill>
              <a:schemeClr val="lt1"/>
            </a:solidFill>
          </a:ln>
          <a:effectLst/>
        </c:spPr>
      </c:pivotFmt>
      <c:pivotFmt>
        <c:idx val="37"/>
        <c:spPr>
          <a:solidFill>
            <a:schemeClr val="accent5"/>
          </a:solidFill>
          <a:ln w="19050">
            <a:solidFill>
              <a:schemeClr val="lt1"/>
            </a:solidFill>
          </a:ln>
          <a:effectLst/>
        </c:spPr>
      </c:pivotFmt>
      <c:pivotFmt>
        <c:idx val="38"/>
        <c:spPr>
          <a:solidFill>
            <a:schemeClr val="accent5"/>
          </a:solidFill>
          <a:ln w="19050">
            <a:solidFill>
              <a:schemeClr val="lt1"/>
            </a:solidFill>
          </a:ln>
          <a:effectLst/>
        </c:spPr>
      </c:pivotFmt>
      <c:pivotFmt>
        <c:idx val="39"/>
      </c:pivotFmt>
      <c:pivotFmt>
        <c:idx val="40"/>
        <c:spPr>
          <a:solidFill>
            <a:schemeClr val="accent6"/>
          </a:solidFill>
          <a:ln w="19050">
            <a:solidFill>
              <a:schemeClr val="lt1"/>
            </a:solidFill>
          </a:ln>
          <a:effectLst/>
        </c:spPr>
      </c:pivotFmt>
      <c:pivotFmt>
        <c:idx val="41"/>
        <c:spPr>
          <a:solidFill>
            <a:schemeClr val="accent6"/>
          </a:solidFill>
          <a:ln w="19050">
            <a:solidFill>
              <a:schemeClr val="lt1"/>
            </a:solidFill>
          </a:ln>
          <a:effectLst/>
        </c:spPr>
      </c:pivotFmt>
      <c:pivotFmt>
        <c:idx val="42"/>
        <c:spPr>
          <a:solidFill>
            <a:schemeClr val="accent6"/>
          </a:solidFill>
          <a:ln w="19050">
            <a:solidFill>
              <a:schemeClr val="lt1"/>
            </a:solidFill>
          </a:ln>
          <a:effectLst/>
        </c:spPr>
      </c:pivotFmt>
      <c:pivotFmt>
        <c:idx val="43"/>
      </c:pivotFmt>
      <c:pivotFmt>
        <c:idx val="44"/>
        <c:spPr>
          <a:solidFill>
            <a:schemeClr val="accent1">
              <a:lumMod val="60000"/>
            </a:schemeClr>
          </a:solidFill>
          <a:ln w="19050">
            <a:solidFill>
              <a:schemeClr val="lt1"/>
            </a:solidFill>
          </a:ln>
          <a:effectLst/>
        </c:spPr>
      </c:pivotFmt>
      <c:pivotFmt>
        <c:idx val="45"/>
        <c:spPr>
          <a:solidFill>
            <a:schemeClr val="accent1">
              <a:lumMod val="60000"/>
            </a:schemeClr>
          </a:solidFill>
          <a:ln w="19050">
            <a:solidFill>
              <a:schemeClr val="lt1"/>
            </a:solidFill>
          </a:ln>
          <a:effectLst/>
        </c:spPr>
      </c:pivotFmt>
      <c:pivotFmt>
        <c:idx val="46"/>
        <c:spPr>
          <a:solidFill>
            <a:schemeClr val="accent1">
              <a:lumMod val="60000"/>
            </a:schemeClr>
          </a:solidFill>
          <a:ln w="19050">
            <a:solidFill>
              <a:schemeClr val="lt1"/>
            </a:solidFill>
          </a:ln>
          <a:effectLst/>
        </c:spPr>
      </c:pivotFmt>
      <c:pivotFmt>
        <c:idx val="47"/>
      </c:pivotFmt>
      <c:pivotFmt>
        <c:idx val="48"/>
        <c:spPr>
          <a:solidFill>
            <a:schemeClr val="accent2">
              <a:lumMod val="60000"/>
            </a:schemeClr>
          </a:solidFill>
          <a:ln w="19050">
            <a:solidFill>
              <a:schemeClr val="lt1"/>
            </a:solidFill>
          </a:ln>
          <a:effectLst/>
        </c:spPr>
      </c:pivotFmt>
      <c:pivotFmt>
        <c:idx val="49"/>
        <c:spPr>
          <a:solidFill>
            <a:schemeClr val="accent2">
              <a:lumMod val="60000"/>
            </a:schemeClr>
          </a:solidFill>
          <a:ln w="19050">
            <a:solidFill>
              <a:schemeClr val="lt1"/>
            </a:solidFill>
          </a:ln>
          <a:effectLst/>
        </c:spPr>
      </c:pivotFmt>
      <c:pivotFmt>
        <c:idx val="50"/>
        <c:spPr>
          <a:solidFill>
            <a:schemeClr val="accent2">
              <a:lumMod val="60000"/>
            </a:schemeClr>
          </a:solidFill>
          <a:ln w="19050">
            <a:solidFill>
              <a:schemeClr val="lt1"/>
            </a:solidFill>
          </a:ln>
          <a:effectLst/>
        </c:spPr>
      </c:pivotFmt>
      <c:pivotFmt>
        <c:idx val="51"/>
      </c:pivotFmt>
      <c:pivotFmt>
        <c:idx val="52"/>
        <c:spPr>
          <a:solidFill>
            <a:schemeClr val="accent3">
              <a:lumMod val="60000"/>
            </a:schemeClr>
          </a:solidFill>
          <a:ln w="19050">
            <a:solidFill>
              <a:schemeClr val="lt1"/>
            </a:solidFill>
          </a:ln>
          <a:effectLst/>
        </c:spPr>
      </c:pivotFmt>
      <c:pivotFmt>
        <c:idx val="53"/>
        <c:spPr>
          <a:solidFill>
            <a:schemeClr val="accent3">
              <a:lumMod val="60000"/>
            </a:schemeClr>
          </a:solidFill>
          <a:ln w="19050">
            <a:solidFill>
              <a:schemeClr val="lt1"/>
            </a:solidFill>
          </a:ln>
          <a:effectLst/>
        </c:spPr>
      </c:pivotFmt>
      <c:pivotFmt>
        <c:idx val="54"/>
        <c:spPr>
          <a:solidFill>
            <a:schemeClr val="accent3">
              <a:lumMod val="60000"/>
            </a:schemeClr>
          </a:solidFill>
          <a:ln w="19050">
            <a:solidFill>
              <a:schemeClr val="lt1"/>
            </a:solidFill>
          </a:ln>
          <a:effectLst/>
        </c:spPr>
      </c:pivotFmt>
      <c:pivotFmt>
        <c:idx val="55"/>
      </c:pivotFmt>
      <c:pivotFmt>
        <c:idx val="5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'Product Strategy by Store'!$B$2:$B$3</c:f>
              <c:strCache>
                <c:ptCount val="1"/>
                <c:pt idx="0">
                  <c:v>Bakery</c:v>
                </c:pt>
              </c:strCache>
            </c:strRef>
          </c:tx>
          <c:spPr>
            <a:solidFill>
              <a:schemeClr val="accent1"/>
            </a:solidFill>
            <a:ln w="19050">
              <a:solidFill>
                <a:schemeClr val="lt1"/>
              </a:solidFill>
            </a:ln>
            <a:effectLst/>
          </c:spPr>
          <c:invertIfNegative val="0"/>
          <c:dPt>
            <c:idx val="0"/>
            <c:invertIfNegative val="0"/>
            <c:bubble3D val="0"/>
            <c:extLst>
              <c:ext xmlns:c16="http://schemas.microsoft.com/office/drawing/2014/chart" uri="{C3380CC4-5D6E-409C-BE32-E72D297353CC}">
                <c16:uniqueId val="{00000000-433E-4BF0-A5CD-98449A23E826}"/>
              </c:ext>
            </c:extLst>
          </c:dPt>
          <c:dPt>
            <c:idx val="1"/>
            <c:invertIfNegative val="0"/>
            <c:bubble3D val="0"/>
            <c:extLst>
              <c:ext xmlns:c16="http://schemas.microsoft.com/office/drawing/2014/chart" uri="{C3380CC4-5D6E-409C-BE32-E72D297353CC}">
                <c16:uniqueId val="{00000001-433E-4BF0-A5CD-98449A23E826}"/>
              </c:ext>
            </c:extLst>
          </c:dPt>
          <c:dPt>
            <c:idx val="2"/>
            <c:invertIfNegative val="0"/>
            <c:bubble3D val="0"/>
            <c:extLst>
              <c:ext xmlns:c16="http://schemas.microsoft.com/office/drawing/2014/chart" uri="{C3380CC4-5D6E-409C-BE32-E72D297353CC}">
                <c16:uniqueId val="{00000002-433E-4BF0-A5CD-98449A23E826}"/>
              </c:ext>
            </c:extLst>
          </c:dPt>
          <c:dPt>
            <c:idx val="3"/>
            <c:invertIfNegative val="0"/>
            <c:bubble3D val="0"/>
            <c:extLst>
              <c:ext xmlns:c16="http://schemas.microsoft.com/office/drawing/2014/chart" uri="{C3380CC4-5D6E-409C-BE32-E72D297353CC}">
                <c16:uniqueId val="{00000003-433E-4BF0-A5CD-98449A23E826}"/>
              </c:ext>
            </c:extLst>
          </c:dPt>
          <c:dPt>
            <c:idx val="4"/>
            <c:invertIfNegative val="0"/>
            <c:bubble3D val="0"/>
            <c:extLst>
              <c:ext xmlns:c16="http://schemas.microsoft.com/office/drawing/2014/chart" uri="{C3380CC4-5D6E-409C-BE32-E72D297353CC}">
                <c16:uniqueId val="{00000004-433E-4BF0-A5CD-98449A23E826}"/>
              </c:ext>
            </c:extLst>
          </c:dPt>
          <c:dPt>
            <c:idx val="5"/>
            <c:invertIfNegative val="0"/>
            <c:bubble3D val="0"/>
            <c:extLst>
              <c:ext xmlns:c16="http://schemas.microsoft.com/office/drawing/2014/chart" uri="{C3380CC4-5D6E-409C-BE32-E72D297353CC}">
                <c16:uniqueId val="{00000005-433E-4BF0-A5CD-98449A23E826}"/>
              </c:ext>
            </c:extLst>
          </c:dPt>
          <c:dPt>
            <c:idx val="6"/>
            <c:invertIfNegative val="0"/>
            <c:bubble3D val="0"/>
            <c:extLst>
              <c:ext xmlns:c16="http://schemas.microsoft.com/office/drawing/2014/chart" uri="{C3380CC4-5D6E-409C-BE32-E72D297353CC}">
                <c16:uniqueId val="{00000006-433E-4BF0-A5CD-98449A23E826}"/>
              </c:ext>
            </c:extLst>
          </c:dPt>
          <c:dPt>
            <c:idx val="7"/>
            <c:invertIfNegative val="0"/>
            <c:bubble3D val="0"/>
            <c:extLst>
              <c:ext xmlns:c16="http://schemas.microsoft.com/office/drawing/2014/chart" uri="{C3380CC4-5D6E-409C-BE32-E72D297353CC}">
                <c16:uniqueId val="{00000007-433E-4BF0-A5CD-98449A23E826}"/>
              </c:ext>
            </c:extLst>
          </c:dPt>
          <c:dPt>
            <c:idx val="8"/>
            <c:invertIfNegative val="0"/>
            <c:bubble3D val="0"/>
            <c:extLst>
              <c:ext xmlns:c16="http://schemas.microsoft.com/office/drawing/2014/chart" uri="{C3380CC4-5D6E-409C-BE32-E72D297353CC}">
                <c16:uniqueId val="{00000008-433E-4BF0-A5CD-98449A23E826}"/>
              </c:ext>
            </c:extLst>
          </c:dPt>
          <c:cat>
            <c:strRef>
              <c:f>'Product Strategy by Store'!$A$4:$A$7</c:f>
              <c:strCache>
                <c:ptCount val="3"/>
                <c:pt idx="0">
                  <c:v>Astoria</c:v>
                </c:pt>
                <c:pt idx="1">
                  <c:v>Hell's Kitchen</c:v>
                </c:pt>
                <c:pt idx="2">
                  <c:v>Lower Manhattan</c:v>
                </c:pt>
              </c:strCache>
            </c:strRef>
          </c:cat>
          <c:val>
            <c:numRef>
              <c:f>'Product Strategy by Store'!$B$4:$B$7</c:f>
              <c:numCache>
                <c:formatCode>[$R-432]#,##0.00</c:formatCode>
                <c:ptCount val="3"/>
                <c:pt idx="0">
                  <c:v>3.806422534072991E-2</c:v>
                </c:pt>
                <c:pt idx="1">
                  <c:v>3.9190708040312536E-2</c:v>
                </c:pt>
                <c:pt idx="2">
                  <c:v>4.0538695131496348E-2</c:v>
                </c:pt>
              </c:numCache>
            </c:numRef>
          </c:val>
          <c:extLst>
            <c:ext xmlns:c16="http://schemas.microsoft.com/office/drawing/2014/chart" uri="{C3380CC4-5D6E-409C-BE32-E72D297353CC}">
              <c16:uniqueId val="{00000009-433E-4BF0-A5CD-98449A23E826}"/>
            </c:ext>
          </c:extLst>
        </c:ser>
        <c:ser>
          <c:idx val="1"/>
          <c:order val="1"/>
          <c:tx>
            <c:strRef>
              <c:f>'Product Strategy by Store'!$C$2:$C$3</c:f>
              <c:strCache>
                <c:ptCount val="1"/>
                <c:pt idx="0">
                  <c:v>Branded</c:v>
                </c:pt>
              </c:strCache>
            </c:strRef>
          </c:tx>
          <c:spPr>
            <a:solidFill>
              <a:schemeClr val="accent2"/>
            </a:solidFill>
            <a:ln w="19050">
              <a:solidFill>
                <a:schemeClr val="lt1"/>
              </a:solidFill>
            </a:ln>
            <a:effectLst/>
          </c:spPr>
          <c:invertIfNegative val="0"/>
          <c:cat>
            <c:strRef>
              <c:f>'Product Strategy by Store'!$A$4:$A$7</c:f>
              <c:strCache>
                <c:ptCount val="3"/>
                <c:pt idx="0">
                  <c:v>Astoria</c:v>
                </c:pt>
                <c:pt idx="1">
                  <c:v>Hell's Kitchen</c:v>
                </c:pt>
                <c:pt idx="2">
                  <c:v>Lower Manhattan</c:v>
                </c:pt>
              </c:strCache>
            </c:strRef>
          </c:cat>
          <c:val>
            <c:numRef>
              <c:f>'Product Strategy by Store'!$C$4:$C$7</c:f>
              <c:numCache>
                <c:formatCode>[$R-432]#,##0.00</c:formatCode>
                <c:ptCount val="3"/>
                <c:pt idx="0">
                  <c:v>7.8089635310242805E-3</c:v>
                </c:pt>
                <c:pt idx="1">
                  <c:v>2.7790007654845432E-3</c:v>
                </c:pt>
                <c:pt idx="2">
                  <c:v>8.8836440536189734E-3</c:v>
                </c:pt>
              </c:numCache>
            </c:numRef>
          </c:val>
          <c:extLst>
            <c:ext xmlns:c16="http://schemas.microsoft.com/office/drawing/2014/chart" uri="{C3380CC4-5D6E-409C-BE32-E72D297353CC}">
              <c16:uniqueId val="{0000000A-433E-4BF0-A5CD-98449A23E826}"/>
            </c:ext>
          </c:extLst>
        </c:ser>
        <c:ser>
          <c:idx val="2"/>
          <c:order val="2"/>
          <c:tx>
            <c:strRef>
              <c:f>'Product Strategy by Store'!$D$2:$D$3</c:f>
              <c:strCache>
                <c:ptCount val="1"/>
                <c:pt idx="0">
                  <c:v>Coffee</c:v>
                </c:pt>
              </c:strCache>
            </c:strRef>
          </c:tx>
          <c:spPr>
            <a:solidFill>
              <a:schemeClr val="accent3"/>
            </a:solidFill>
            <a:ln w="19050">
              <a:solidFill>
                <a:schemeClr val="lt1"/>
              </a:solidFill>
            </a:ln>
            <a:effectLst/>
          </c:spPr>
          <c:invertIfNegative val="0"/>
          <c:cat>
            <c:strRef>
              <c:f>'Product Strategy by Store'!$A$4:$A$7</c:f>
              <c:strCache>
                <c:ptCount val="3"/>
                <c:pt idx="0">
                  <c:v>Astoria</c:v>
                </c:pt>
                <c:pt idx="1">
                  <c:v>Hell's Kitchen</c:v>
                </c:pt>
                <c:pt idx="2">
                  <c:v>Lower Manhattan</c:v>
                </c:pt>
              </c:strCache>
            </c:strRef>
          </c:cat>
          <c:val>
            <c:numRef>
              <c:f>'Product Strategy by Store'!$D$4:$D$7</c:f>
              <c:numCache>
                <c:formatCode>[$R-432]#,##0.00</c:formatCode>
                <c:ptCount val="3"/>
                <c:pt idx="0">
                  <c:v>0.1284240362501867</c:v>
                </c:pt>
                <c:pt idx="1">
                  <c:v>0.13053955416041146</c:v>
                </c:pt>
                <c:pt idx="2">
                  <c:v>0.12733819393255227</c:v>
                </c:pt>
              </c:numCache>
            </c:numRef>
          </c:val>
          <c:extLst>
            <c:ext xmlns:c16="http://schemas.microsoft.com/office/drawing/2014/chart" uri="{C3380CC4-5D6E-409C-BE32-E72D297353CC}">
              <c16:uniqueId val="{0000000B-433E-4BF0-A5CD-98449A23E826}"/>
            </c:ext>
          </c:extLst>
        </c:ser>
        <c:ser>
          <c:idx val="3"/>
          <c:order val="3"/>
          <c:tx>
            <c:strRef>
              <c:f>'Product Strategy by Store'!$E$2:$E$3</c:f>
              <c:strCache>
                <c:ptCount val="1"/>
                <c:pt idx="0">
                  <c:v>Coffee beans</c:v>
                </c:pt>
              </c:strCache>
            </c:strRef>
          </c:tx>
          <c:spPr>
            <a:solidFill>
              <a:schemeClr val="accent4"/>
            </a:solidFill>
            <a:ln w="19050">
              <a:solidFill>
                <a:schemeClr val="lt1"/>
              </a:solidFill>
            </a:ln>
            <a:effectLst/>
          </c:spPr>
          <c:invertIfNegative val="0"/>
          <c:cat>
            <c:strRef>
              <c:f>'Product Strategy by Store'!$A$4:$A$7</c:f>
              <c:strCache>
                <c:ptCount val="3"/>
                <c:pt idx="0">
                  <c:v>Astoria</c:v>
                </c:pt>
                <c:pt idx="1">
                  <c:v>Hell's Kitchen</c:v>
                </c:pt>
                <c:pt idx="2">
                  <c:v>Lower Manhattan</c:v>
                </c:pt>
              </c:strCache>
            </c:strRef>
          </c:cat>
          <c:val>
            <c:numRef>
              <c:f>'Product Strategy by Store'!$E$4:$E$7</c:f>
              <c:numCache>
                <c:formatCode>[$R-432]#,##0.00</c:formatCode>
                <c:ptCount val="3"/>
                <c:pt idx="0">
                  <c:v>1.4623668703727933E-2</c:v>
                </c:pt>
                <c:pt idx="1">
                  <c:v>2.6666816253800758E-2</c:v>
                </c:pt>
                <c:pt idx="2">
                  <c:v>1.6071482310565727E-2</c:v>
                </c:pt>
              </c:numCache>
            </c:numRef>
          </c:val>
          <c:extLst>
            <c:ext xmlns:c16="http://schemas.microsoft.com/office/drawing/2014/chart" uri="{C3380CC4-5D6E-409C-BE32-E72D297353CC}">
              <c16:uniqueId val="{0000000C-433E-4BF0-A5CD-98449A23E826}"/>
            </c:ext>
          </c:extLst>
        </c:ser>
        <c:ser>
          <c:idx val="4"/>
          <c:order val="4"/>
          <c:tx>
            <c:strRef>
              <c:f>'Product Strategy by Store'!$F$2:$F$3</c:f>
              <c:strCache>
                <c:ptCount val="1"/>
                <c:pt idx="0">
                  <c:v>Drinking Chocolate</c:v>
                </c:pt>
              </c:strCache>
            </c:strRef>
          </c:tx>
          <c:spPr>
            <a:solidFill>
              <a:schemeClr val="accent5"/>
            </a:solidFill>
            <a:ln w="19050">
              <a:solidFill>
                <a:schemeClr val="lt1"/>
              </a:solidFill>
            </a:ln>
            <a:effectLst/>
          </c:spPr>
          <c:invertIfNegative val="0"/>
          <c:cat>
            <c:strRef>
              <c:f>'Product Strategy by Store'!$A$4:$A$7</c:f>
              <c:strCache>
                <c:ptCount val="3"/>
                <c:pt idx="0">
                  <c:v>Astoria</c:v>
                </c:pt>
                <c:pt idx="1">
                  <c:v>Hell's Kitchen</c:v>
                </c:pt>
                <c:pt idx="2">
                  <c:v>Lower Manhattan</c:v>
                </c:pt>
              </c:strCache>
            </c:strRef>
          </c:cat>
          <c:val>
            <c:numRef>
              <c:f>'Product Strategy by Store'!$F$4:$F$7</c:f>
              <c:numCache>
                <c:formatCode>[$R-432]#,##0.00</c:formatCode>
                <c:ptCount val="3"/>
                <c:pt idx="0">
                  <c:v>3.7685726008870657E-2</c:v>
                </c:pt>
                <c:pt idx="1">
                  <c:v>3.3751908756390218E-2</c:v>
                </c:pt>
                <c:pt idx="2">
                  <c:v>3.2189615200407855E-2</c:v>
                </c:pt>
              </c:numCache>
            </c:numRef>
          </c:val>
          <c:extLst>
            <c:ext xmlns:c16="http://schemas.microsoft.com/office/drawing/2014/chart" uri="{C3380CC4-5D6E-409C-BE32-E72D297353CC}">
              <c16:uniqueId val="{0000000D-433E-4BF0-A5CD-98449A23E826}"/>
            </c:ext>
          </c:extLst>
        </c:ser>
        <c:ser>
          <c:idx val="5"/>
          <c:order val="5"/>
          <c:tx>
            <c:strRef>
              <c:f>'Product Strategy by Store'!$G$2:$G$3</c:f>
              <c:strCache>
                <c:ptCount val="1"/>
                <c:pt idx="0">
                  <c:v>Flavours</c:v>
                </c:pt>
              </c:strCache>
            </c:strRef>
          </c:tx>
          <c:spPr>
            <a:solidFill>
              <a:schemeClr val="accent6"/>
            </a:solidFill>
            <a:ln w="19050">
              <a:solidFill>
                <a:schemeClr val="lt1"/>
              </a:solidFill>
            </a:ln>
            <a:effectLst/>
          </c:spPr>
          <c:invertIfNegative val="0"/>
          <c:cat>
            <c:strRef>
              <c:f>'Product Strategy by Store'!$A$4:$A$7</c:f>
              <c:strCache>
                <c:ptCount val="3"/>
                <c:pt idx="0">
                  <c:v>Astoria</c:v>
                </c:pt>
                <c:pt idx="1">
                  <c:v>Hell's Kitchen</c:v>
                </c:pt>
                <c:pt idx="2">
                  <c:v>Lower Manhattan</c:v>
                </c:pt>
              </c:strCache>
            </c:strRef>
          </c:cat>
          <c:val>
            <c:numRef>
              <c:f>'Product Strategy by Store'!$G$4:$G$7</c:f>
              <c:numCache>
                <c:formatCode>[$R-432]#,##0.00</c:formatCode>
                <c:ptCount val="3"/>
                <c:pt idx="0">
                  <c:v>2.5254276781292483E-3</c:v>
                </c:pt>
                <c:pt idx="1">
                  <c:v>4.1166989712388509E-3</c:v>
                </c:pt>
                <c:pt idx="2">
                  <c:v>5.3908608052180024E-3</c:v>
                </c:pt>
              </c:numCache>
            </c:numRef>
          </c:val>
          <c:extLst>
            <c:ext xmlns:c16="http://schemas.microsoft.com/office/drawing/2014/chart" uri="{C3380CC4-5D6E-409C-BE32-E72D297353CC}">
              <c16:uniqueId val="{0000000E-433E-4BF0-A5CD-98449A23E826}"/>
            </c:ext>
          </c:extLst>
        </c:ser>
        <c:ser>
          <c:idx val="6"/>
          <c:order val="6"/>
          <c:tx>
            <c:strRef>
              <c:f>'Product Strategy by Store'!$H$2:$H$3</c:f>
              <c:strCache>
                <c:ptCount val="1"/>
                <c:pt idx="0">
                  <c:v>Loose Tea</c:v>
                </c:pt>
              </c:strCache>
            </c:strRef>
          </c:tx>
          <c:spPr>
            <a:solidFill>
              <a:schemeClr val="accent1">
                <a:lumMod val="60000"/>
              </a:schemeClr>
            </a:solidFill>
            <a:ln w="19050">
              <a:solidFill>
                <a:schemeClr val="lt1"/>
              </a:solidFill>
            </a:ln>
            <a:effectLst/>
          </c:spPr>
          <c:invertIfNegative val="0"/>
          <c:cat>
            <c:strRef>
              <c:f>'Product Strategy by Store'!$A$4:$A$7</c:f>
              <c:strCache>
                <c:ptCount val="3"/>
                <c:pt idx="0">
                  <c:v>Astoria</c:v>
                </c:pt>
                <c:pt idx="1">
                  <c:v>Hell's Kitchen</c:v>
                </c:pt>
                <c:pt idx="2">
                  <c:v>Lower Manhattan</c:v>
                </c:pt>
              </c:strCache>
            </c:strRef>
          </c:cat>
          <c:val>
            <c:numRef>
              <c:f>'Product Strategy by Store'!$H$4:$H$7</c:f>
              <c:numCache>
                <c:formatCode>[$R-432]#,##0.00</c:formatCode>
                <c:ptCount val="3"/>
                <c:pt idx="0">
                  <c:v>4.5706119695971166E-3</c:v>
                </c:pt>
                <c:pt idx="1">
                  <c:v>6.384189013951793E-3</c:v>
                </c:pt>
                <c:pt idx="2">
                  <c:v>5.0918534880460024E-3</c:v>
                </c:pt>
              </c:numCache>
            </c:numRef>
          </c:val>
          <c:extLst>
            <c:ext xmlns:c16="http://schemas.microsoft.com/office/drawing/2014/chart" uri="{C3380CC4-5D6E-409C-BE32-E72D297353CC}">
              <c16:uniqueId val="{0000000F-433E-4BF0-A5CD-98449A23E826}"/>
            </c:ext>
          </c:extLst>
        </c:ser>
        <c:ser>
          <c:idx val="7"/>
          <c:order val="7"/>
          <c:tx>
            <c:strRef>
              <c:f>'Product Strategy by Store'!$I$2:$I$3</c:f>
              <c:strCache>
                <c:ptCount val="1"/>
                <c:pt idx="0">
                  <c:v>Packaged Chocolate</c:v>
                </c:pt>
              </c:strCache>
            </c:strRef>
          </c:tx>
          <c:spPr>
            <a:solidFill>
              <a:schemeClr val="accent2">
                <a:lumMod val="60000"/>
              </a:schemeClr>
            </a:solidFill>
            <a:ln w="19050">
              <a:solidFill>
                <a:schemeClr val="lt1"/>
              </a:solidFill>
            </a:ln>
            <a:effectLst/>
          </c:spPr>
          <c:invertIfNegative val="0"/>
          <c:cat>
            <c:strRef>
              <c:f>'Product Strategy by Store'!$A$4:$A$7</c:f>
              <c:strCache>
                <c:ptCount val="3"/>
                <c:pt idx="0">
                  <c:v>Astoria</c:v>
                </c:pt>
                <c:pt idx="1">
                  <c:v>Hell's Kitchen</c:v>
                </c:pt>
                <c:pt idx="2">
                  <c:v>Lower Manhattan</c:v>
                </c:pt>
              </c:strCache>
            </c:strRef>
          </c:cat>
          <c:val>
            <c:numRef>
              <c:f>'Product Strategy by Store'!$I$4:$I$7</c:f>
              <c:numCache>
                <c:formatCode>[$R-432]#,##0.00</c:formatCode>
                <c:ptCount val="3"/>
                <c:pt idx="0">
                  <c:v>1.5593743172791783E-3</c:v>
                </c:pt>
                <c:pt idx="1">
                  <c:v>2.4309387901041059E-3</c:v>
                </c:pt>
                <c:pt idx="2">
                  <c:v>2.3170169307116101E-3</c:v>
                </c:pt>
              </c:numCache>
            </c:numRef>
          </c:val>
          <c:extLst>
            <c:ext xmlns:c16="http://schemas.microsoft.com/office/drawing/2014/chart" uri="{C3380CC4-5D6E-409C-BE32-E72D297353CC}">
              <c16:uniqueId val="{00000010-433E-4BF0-A5CD-98449A23E826}"/>
            </c:ext>
          </c:extLst>
        </c:ser>
        <c:ser>
          <c:idx val="8"/>
          <c:order val="8"/>
          <c:tx>
            <c:strRef>
              <c:f>'Product Strategy by Store'!$J$2:$J$3</c:f>
              <c:strCache>
                <c:ptCount val="1"/>
                <c:pt idx="0">
                  <c:v>Tea</c:v>
                </c:pt>
              </c:strCache>
            </c:strRef>
          </c:tx>
          <c:spPr>
            <a:solidFill>
              <a:schemeClr val="accent3">
                <a:lumMod val="60000"/>
              </a:schemeClr>
            </a:solidFill>
            <a:ln w="19050">
              <a:solidFill>
                <a:schemeClr val="lt1"/>
              </a:solidFill>
            </a:ln>
            <a:effectLst/>
          </c:spPr>
          <c:invertIfNegative val="0"/>
          <c:cat>
            <c:strRef>
              <c:f>'Product Strategy by Store'!$A$4:$A$7</c:f>
              <c:strCache>
                <c:ptCount val="3"/>
                <c:pt idx="0">
                  <c:v>Astoria</c:v>
                </c:pt>
                <c:pt idx="1">
                  <c:v>Hell's Kitchen</c:v>
                </c:pt>
                <c:pt idx="2">
                  <c:v>Lower Manhattan</c:v>
                </c:pt>
              </c:strCache>
            </c:strRef>
          </c:cat>
          <c:val>
            <c:numRef>
              <c:f>'Product Strategy by Store'!$J$4:$J$7</c:f>
              <c:numCache>
                <c:formatCode>[$R-432]#,##0.00</c:formatCode>
                <c:ptCount val="3"/>
                <c:pt idx="0">
                  <c:v>9.7078853774661161E-2</c:v>
                </c:pt>
                <c:pt idx="1">
                  <c:v>9.2587519169846838E-2</c:v>
                </c:pt>
                <c:pt idx="2">
                  <c:v>9.1390416651635928E-2</c:v>
                </c:pt>
              </c:numCache>
            </c:numRef>
          </c:val>
          <c:extLst>
            <c:ext xmlns:c16="http://schemas.microsoft.com/office/drawing/2014/chart" uri="{C3380CC4-5D6E-409C-BE32-E72D297353CC}">
              <c16:uniqueId val="{00000011-433E-4BF0-A5CD-98449A23E826}"/>
            </c:ext>
          </c:extLst>
        </c:ser>
        <c:dLbls>
          <c:showLegendKey val="0"/>
          <c:showVal val="0"/>
          <c:showCatName val="0"/>
          <c:showSerName val="0"/>
          <c:showPercent val="0"/>
          <c:showBubbleSize val="0"/>
        </c:dLbls>
        <c:gapWidth val="100"/>
        <c:overlap val="100"/>
        <c:axId val="996118536"/>
        <c:axId val="996120584"/>
      </c:barChart>
      <c:catAx>
        <c:axId val="99611853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Store location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6120584"/>
        <c:crosses val="autoZero"/>
        <c:auto val="1"/>
        <c:lblAlgn val="ctr"/>
        <c:lblOffset val="100"/>
        <c:noMultiLvlLbl val="0"/>
      </c:catAx>
      <c:valAx>
        <c:axId val="99612058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Revenue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R-432]#,##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61185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[BCS_case__study_1.xlsx]Customer Purchases by Day Time!PivotTable7</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Customer Purchases by Time of Day</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pivotFmt>
      <c:pivotFmt>
        <c:idx val="6"/>
        <c:spPr>
          <a:solidFill>
            <a:schemeClr val="accent1"/>
          </a:solidFill>
          <a:ln>
            <a:noFill/>
          </a:ln>
          <a:effectLst/>
        </c:spPr>
      </c:pivotFmt>
      <c:pivotFmt>
        <c:idx val="7"/>
        <c:spPr>
          <a:solidFill>
            <a:schemeClr val="accent1"/>
          </a:solidFill>
          <a:ln>
            <a:noFill/>
          </a:ln>
          <a:effectLst/>
        </c:spPr>
      </c:pivotFmt>
      <c:pivotFmt>
        <c:idx val="8"/>
        <c:spPr>
          <a:solidFill>
            <a:schemeClr val="accent1"/>
          </a:solidFill>
          <a:ln>
            <a:noFill/>
          </a:ln>
          <a:effectLst/>
        </c:spPr>
      </c:pivotFmt>
      <c:pivotFmt>
        <c:idx val="9"/>
        <c:spPr>
          <a:solidFill>
            <a:schemeClr val="accent1"/>
          </a:solidFill>
          <a:ln>
            <a:noFill/>
          </a:ln>
          <a:effectLst/>
        </c:spPr>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pivotFmt>
      <c:pivotFmt>
        <c:idx val="12"/>
        <c:spPr>
          <a:solidFill>
            <a:schemeClr val="accent1"/>
          </a:solidFill>
          <a:ln>
            <a:noFill/>
          </a:ln>
          <a:effectLst/>
        </c:spPr>
      </c:pivotFmt>
      <c:pivotFmt>
        <c:idx val="13"/>
        <c:spPr>
          <a:solidFill>
            <a:schemeClr val="accent1"/>
          </a:solidFill>
          <a:ln>
            <a:noFill/>
          </a:ln>
          <a:effectLst/>
        </c:spPr>
      </c:pivotFmt>
      <c:pivotFmt>
        <c:idx val="14"/>
        <c:spPr>
          <a:solidFill>
            <a:schemeClr val="accent1"/>
          </a:solidFill>
          <a:ln>
            <a:noFill/>
          </a:ln>
          <a:effectLst/>
        </c:spPr>
      </c:pivotFmt>
      <c:pivotFmt>
        <c:idx val="15"/>
        <c:spPr>
          <a:solidFill>
            <a:schemeClr val="accent1"/>
          </a:solidFill>
          <a:ln>
            <a:noFill/>
          </a:ln>
          <a:effectLst/>
        </c:spPr>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pivotFmt>
      <c:pivotFmt>
        <c:idx val="18"/>
        <c:spPr>
          <a:solidFill>
            <a:schemeClr val="accent1"/>
          </a:solidFill>
          <a:ln>
            <a:noFill/>
          </a:ln>
          <a:effectLst/>
        </c:spPr>
      </c:pivotFmt>
      <c:pivotFmt>
        <c:idx val="19"/>
        <c:spPr>
          <a:solidFill>
            <a:schemeClr val="accent1"/>
          </a:solidFill>
          <a:ln>
            <a:noFill/>
          </a:ln>
          <a:effectLst/>
        </c:spPr>
      </c:pivotFmt>
      <c:pivotFmt>
        <c:idx val="20"/>
        <c:spPr>
          <a:solidFill>
            <a:schemeClr val="accent1"/>
          </a:solidFill>
          <a:ln>
            <a:noFill/>
          </a:ln>
          <a:effectLst/>
        </c:spPr>
      </c:pivotFmt>
      <c:pivotFmt>
        <c:idx val="21"/>
        <c:spPr>
          <a:solidFill>
            <a:schemeClr val="accent1"/>
          </a:solidFill>
          <a:ln>
            <a:noFill/>
          </a:ln>
          <a:effectLst/>
        </c:spPr>
      </c:pivotFmt>
    </c:pivotFmts>
    <c:plotArea>
      <c:layout/>
      <c:pieChart>
        <c:varyColors val="1"/>
        <c:ser>
          <c:idx val="0"/>
          <c:order val="0"/>
          <c:tx>
            <c:strRef>
              <c:f>'Customer Purchases by Day Time'!$B$2</c:f>
              <c:strCache>
                <c:ptCount val="1"/>
                <c:pt idx="0">
                  <c:v>Total</c:v>
                </c:pt>
              </c:strCache>
            </c:strRef>
          </c:tx>
          <c:dPt>
            <c:idx val="0"/>
            <c:bubble3D val="0"/>
            <c:spPr>
              <a:solidFill>
                <a:schemeClr val="accent1"/>
              </a:solidFill>
              <a:ln>
                <a:noFill/>
              </a:ln>
              <a:effectLst/>
            </c:spPr>
            <c:extLst>
              <c:ext xmlns:c16="http://schemas.microsoft.com/office/drawing/2014/chart" uri="{C3380CC4-5D6E-409C-BE32-E72D297353CC}">
                <c16:uniqueId val="{00000001-6773-413D-B6AD-8AF6EF33587F}"/>
              </c:ext>
            </c:extLst>
          </c:dPt>
          <c:dPt>
            <c:idx val="1"/>
            <c:bubble3D val="0"/>
            <c:spPr>
              <a:solidFill>
                <a:schemeClr val="accent2"/>
              </a:solidFill>
              <a:ln>
                <a:noFill/>
              </a:ln>
              <a:effectLst/>
            </c:spPr>
            <c:extLst>
              <c:ext xmlns:c16="http://schemas.microsoft.com/office/drawing/2014/chart" uri="{C3380CC4-5D6E-409C-BE32-E72D297353CC}">
                <c16:uniqueId val="{00000003-6773-413D-B6AD-8AF6EF33587F}"/>
              </c:ext>
            </c:extLst>
          </c:dPt>
          <c:dPt>
            <c:idx val="2"/>
            <c:bubble3D val="0"/>
            <c:spPr>
              <a:solidFill>
                <a:schemeClr val="accent3"/>
              </a:solidFill>
              <a:ln>
                <a:noFill/>
              </a:ln>
              <a:effectLst/>
            </c:spPr>
            <c:extLst>
              <c:ext xmlns:c16="http://schemas.microsoft.com/office/drawing/2014/chart" uri="{C3380CC4-5D6E-409C-BE32-E72D297353CC}">
                <c16:uniqueId val="{00000005-6773-413D-B6AD-8AF6EF33587F}"/>
              </c:ext>
            </c:extLst>
          </c:dPt>
          <c:dPt>
            <c:idx val="3"/>
            <c:bubble3D val="0"/>
            <c:spPr>
              <a:solidFill>
                <a:schemeClr val="accent4"/>
              </a:solidFill>
              <a:ln>
                <a:noFill/>
              </a:ln>
              <a:effectLst/>
            </c:spPr>
            <c:extLst>
              <c:ext xmlns:c16="http://schemas.microsoft.com/office/drawing/2014/chart" uri="{C3380CC4-5D6E-409C-BE32-E72D297353CC}">
                <c16:uniqueId val="{00000007-6773-413D-B6AD-8AF6EF33587F}"/>
              </c:ext>
            </c:extLst>
          </c:dPt>
          <c:dPt>
            <c:idx val="4"/>
            <c:bubble3D val="0"/>
            <c:spPr>
              <a:solidFill>
                <a:schemeClr val="accent5"/>
              </a:solidFill>
              <a:ln>
                <a:noFill/>
              </a:ln>
              <a:effectLst/>
            </c:spPr>
            <c:extLst>
              <c:ext xmlns:c16="http://schemas.microsoft.com/office/drawing/2014/chart" uri="{C3380CC4-5D6E-409C-BE32-E72D297353CC}">
                <c16:uniqueId val="{00000009-6773-413D-B6AD-8AF6EF33587F}"/>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'Customer Purchases by Day Time'!$A$3:$A$8</c:f>
              <c:strCache>
                <c:ptCount val="5"/>
                <c:pt idx="0">
                  <c:v>01.Rush Hour</c:v>
                </c:pt>
                <c:pt idx="1">
                  <c:v>02.Mid Morning</c:v>
                </c:pt>
                <c:pt idx="2">
                  <c:v>03.Afternoon</c:v>
                </c:pt>
                <c:pt idx="3">
                  <c:v>04.Rush Hour</c:v>
                </c:pt>
                <c:pt idx="4">
                  <c:v>05.Night</c:v>
                </c:pt>
              </c:strCache>
            </c:strRef>
          </c:cat>
          <c:val>
            <c:numRef>
              <c:f>'Customer Purchases by Day Time'!$B$3:$B$8</c:f>
              <c:numCache>
                <c:formatCode>General</c:formatCode>
                <c:ptCount val="5"/>
                <c:pt idx="0">
                  <c:v>35676</c:v>
                </c:pt>
                <c:pt idx="1">
                  <c:v>46075</c:v>
                </c:pt>
                <c:pt idx="2">
                  <c:v>35334</c:v>
                </c:pt>
                <c:pt idx="3">
                  <c:v>17844</c:v>
                </c:pt>
                <c:pt idx="4">
                  <c:v>14187</c:v>
                </c:pt>
              </c:numCache>
            </c:numRef>
          </c:val>
          <c:extLst>
            <c:ext xmlns:c16="http://schemas.microsoft.com/office/drawing/2014/chart" uri="{C3380CC4-5D6E-409C-BE32-E72D297353CC}">
              <c16:uniqueId val="{0000000A-6773-413D-B6AD-8AF6EF33587F}"/>
            </c:ext>
          </c:extLst>
        </c:ser>
        <c:dLbls>
          <c:dLblPos val="inEnd"/>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Catego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[BCS_case__study_1.xlsx]Peak Business Periods!PivotTable8</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Peak Business Periods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'Peak Business Periods'!$B$2:$B$3</c:f>
              <c:strCache>
                <c:ptCount val="1"/>
                <c:pt idx="0">
                  <c:v>01.Rush Hour</c:v>
                </c:pt>
              </c:strCache>
            </c:strRef>
          </c:tx>
          <c:spPr>
            <a:solidFill>
              <a:schemeClr val="accent1"/>
            </a:solidFill>
            <a:ln>
              <a:noFill/>
            </a:ln>
            <a:effectLst/>
          </c:spPr>
          <c:invertIfNegative val="0"/>
          <c:cat>
            <c:strRef>
              <c:f>'Peak Business Periods'!$A$4:$A$11</c:f>
              <c:strCache>
                <c:ptCount val="7"/>
                <c:pt idx="0">
                  <c:v>Sun</c:v>
                </c:pt>
                <c:pt idx="1">
                  <c:v>Mon</c:v>
                </c:pt>
                <c:pt idx="2">
                  <c:v>Tue</c:v>
                </c:pt>
                <c:pt idx="3">
                  <c:v>Wed</c:v>
                </c:pt>
                <c:pt idx="4">
                  <c:v>Thu</c:v>
                </c:pt>
                <c:pt idx="5">
                  <c:v>Fri</c:v>
                </c:pt>
                <c:pt idx="6">
                  <c:v>Sat</c:v>
                </c:pt>
              </c:strCache>
            </c:strRef>
          </c:cat>
          <c:val>
            <c:numRef>
              <c:f>'Peak Business Periods'!$B$4:$B$11</c:f>
              <c:numCache>
                <c:formatCode>General</c:formatCode>
                <c:ptCount val="7"/>
                <c:pt idx="0">
                  <c:v>5086</c:v>
                </c:pt>
                <c:pt idx="1">
                  <c:v>5135</c:v>
                </c:pt>
                <c:pt idx="2">
                  <c:v>5118</c:v>
                </c:pt>
                <c:pt idx="3">
                  <c:v>5111</c:v>
                </c:pt>
                <c:pt idx="4">
                  <c:v>5079</c:v>
                </c:pt>
                <c:pt idx="5">
                  <c:v>5240</c:v>
                </c:pt>
                <c:pt idx="6">
                  <c:v>4907</c:v>
                </c:pt>
              </c:numCache>
            </c:numRef>
          </c:val>
          <c:extLst>
            <c:ext xmlns:c16="http://schemas.microsoft.com/office/drawing/2014/chart" uri="{C3380CC4-5D6E-409C-BE32-E72D297353CC}">
              <c16:uniqueId val="{00000000-4201-4C7B-BF0A-B27EF30AFC1C}"/>
            </c:ext>
          </c:extLst>
        </c:ser>
        <c:ser>
          <c:idx val="1"/>
          <c:order val="1"/>
          <c:tx>
            <c:strRef>
              <c:f>'Peak Business Periods'!$C$2:$C$3</c:f>
              <c:strCache>
                <c:ptCount val="1"/>
                <c:pt idx="0">
                  <c:v>02.Mid Morning</c:v>
                </c:pt>
              </c:strCache>
            </c:strRef>
          </c:tx>
          <c:spPr>
            <a:solidFill>
              <a:schemeClr val="accent2"/>
            </a:solidFill>
            <a:ln>
              <a:noFill/>
            </a:ln>
            <a:effectLst/>
          </c:spPr>
          <c:invertIfNegative val="0"/>
          <c:cat>
            <c:strRef>
              <c:f>'Peak Business Periods'!$A$4:$A$11</c:f>
              <c:strCache>
                <c:ptCount val="7"/>
                <c:pt idx="0">
                  <c:v>Sun</c:v>
                </c:pt>
                <c:pt idx="1">
                  <c:v>Mon</c:v>
                </c:pt>
                <c:pt idx="2">
                  <c:v>Tue</c:v>
                </c:pt>
                <c:pt idx="3">
                  <c:v>Wed</c:v>
                </c:pt>
                <c:pt idx="4">
                  <c:v>Thu</c:v>
                </c:pt>
                <c:pt idx="5">
                  <c:v>Fri</c:v>
                </c:pt>
                <c:pt idx="6">
                  <c:v>Sat</c:v>
                </c:pt>
              </c:strCache>
            </c:strRef>
          </c:cat>
          <c:val>
            <c:numRef>
              <c:f>'Peak Business Periods'!$C$4:$C$11</c:f>
              <c:numCache>
                <c:formatCode>General</c:formatCode>
                <c:ptCount val="7"/>
                <c:pt idx="0">
                  <c:v>6509</c:v>
                </c:pt>
                <c:pt idx="1">
                  <c:v>6584</c:v>
                </c:pt>
                <c:pt idx="2">
                  <c:v>6900</c:v>
                </c:pt>
                <c:pt idx="3">
                  <c:v>6591</c:v>
                </c:pt>
                <c:pt idx="4">
                  <c:v>6415</c:v>
                </c:pt>
                <c:pt idx="5">
                  <c:v>6873</c:v>
                </c:pt>
                <c:pt idx="6">
                  <c:v>6203</c:v>
                </c:pt>
              </c:numCache>
            </c:numRef>
          </c:val>
          <c:extLst>
            <c:ext xmlns:c16="http://schemas.microsoft.com/office/drawing/2014/chart" uri="{C3380CC4-5D6E-409C-BE32-E72D297353CC}">
              <c16:uniqueId val="{00000001-4201-4C7B-BF0A-B27EF30AFC1C}"/>
            </c:ext>
          </c:extLst>
        </c:ser>
        <c:ser>
          <c:idx val="2"/>
          <c:order val="2"/>
          <c:tx>
            <c:strRef>
              <c:f>'Peak Business Periods'!$D$2:$D$3</c:f>
              <c:strCache>
                <c:ptCount val="1"/>
                <c:pt idx="0">
                  <c:v>03.Afternoon</c:v>
                </c:pt>
              </c:strCache>
            </c:strRef>
          </c:tx>
          <c:spPr>
            <a:solidFill>
              <a:schemeClr val="accent3"/>
            </a:solidFill>
            <a:ln>
              <a:noFill/>
            </a:ln>
            <a:effectLst/>
          </c:spPr>
          <c:invertIfNegative val="0"/>
          <c:cat>
            <c:strRef>
              <c:f>'Peak Business Periods'!$A$4:$A$11</c:f>
              <c:strCache>
                <c:ptCount val="7"/>
                <c:pt idx="0">
                  <c:v>Sun</c:v>
                </c:pt>
                <c:pt idx="1">
                  <c:v>Mon</c:v>
                </c:pt>
                <c:pt idx="2">
                  <c:v>Tue</c:v>
                </c:pt>
                <c:pt idx="3">
                  <c:v>Wed</c:v>
                </c:pt>
                <c:pt idx="4">
                  <c:v>Thu</c:v>
                </c:pt>
                <c:pt idx="5">
                  <c:v>Fri</c:v>
                </c:pt>
                <c:pt idx="6">
                  <c:v>Sat</c:v>
                </c:pt>
              </c:strCache>
            </c:strRef>
          </c:cat>
          <c:val>
            <c:numRef>
              <c:f>'Peak Business Periods'!$D$4:$D$11</c:f>
              <c:numCache>
                <c:formatCode>General</c:formatCode>
                <c:ptCount val="7"/>
                <c:pt idx="0">
                  <c:v>4987</c:v>
                </c:pt>
                <c:pt idx="1">
                  <c:v>5270</c:v>
                </c:pt>
                <c:pt idx="2">
                  <c:v>4756</c:v>
                </c:pt>
                <c:pt idx="3">
                  <c:v>5064</c:v>
                </c:pt>
                <c:pt idx="4">
                  <c:v>5288</c:v>
                </c:pt>
                <c:pt idx="5">
                  <c:v>4990</c:v>
                </c:pt>
                <c:pt idx="6">
                  <c:v>4979</c:v>
                </c:pt>
              </c:numCache>
            </c:numRef>
          </c:val>
          <c:extLst>
            <c:ext xmlns:c16="http://schemas.microsoft.com/office/drawing/2014/chart" uri="{C3380CC4-5D6E-409C-BE32-E72D297353CC}">
              <c16:uniqueId val="{00000002-4201-4C7B-BF0A-B27EF30AFC1C}"/>
            </c:ext>
          </c:extLst>
        </c:ser>
        <c:ser>
          <c:idx val="3"/>
          <c:order val="3"/>
          <c:tx>
            <c:strRef>
              <c:f>'Peak Business Periods'!$E$2:$E$3</c:f>
              <c:strCache>
                <c:ptCount val="1"/>
                <c:pt idx="0">
                  <c:v>04.Rush Hour</c:v>
                </c:pt>
              </c:strCache>
            </c:strRef>
          </c:tx>
          <c:spPr>
            <a:solidFill>
              <a:schemeClr val="accent4"/>
            </a:solidFill>
            <a:ln>
              <a:noFill/>
            </a:ln>
            <a:effectLst/>
          </c:spPr>
          <c:invertIfNegative val="0"/>
          <c:cat>
            <c:strRef>
              <c:f>'Peak Business Periods'!$A$4:$A$11</c:f>
              <c:strCache>
                <c:ptCount val="7"/>
                <c:pt idx="0">
                  <c:v>Sun</c:v>
                </c:pt>
                <c:pt idx="1">
                  <c:v>Mon</c:v>
                </c:pt>
                <c:pt idx="2">
                  <c:v>Tue</c:v>
                </c:pt>
                <c:pt idx="3">
                  <c:v>Wed</c:v>
                </c:pt>
                <c:pt idx="4">
                  <c:v>Thu</c:v>
                </c:pt>
                <c:pt idx="5">
                  <c:v>Fri</c:v>
                </c:pt>
                <c:pt idx="6">
                  <c:v>Sat</c:v>
                </c:pt>
              </c:strCache>
            </c:strRef>
          </c:cat>
          <c:val>
            <c:numRef>
              <c:f>'Peak Business Periods'!$E$4:$E$11</c:f>
              <c:numCache>
                <c:formatCode>General</c:formatCode>
                <c:ptCount val="7"/>
                <c:pt idx="0">
                  <c:v>2550</c:v>
                </c:pt>
                <c:pt idx="1">
                  <c:v>2659</c:v>
                </c:pt>
                <c:pt idx="2">
                  <c:v>2459</c:v>
                </c:pt>
                <c:pt idx="3">
                  <c:v>2509</c:v>
                </c:pt>
                <c:pt idx="4">
                  <c:v>2717</c:v>
                </c:pt>
                <c:pt idx="5">
                  <c:v>2485</c:v>
                </c:pt>
                <c:pt idx="6">
                  <c:v>2465</c:v>
                </c:pt>
              </c:numCache>
            </c:numRef>
          </c:val>
          <c:extLst>
            <c:ext xmlns:c16="http://schemas.microsoft.com/office/drawing/2014/chart" uri="{C3380CC4-5D6E-409C-BE32-E72D297353CC}">
              <c16:uniqueId val="{00000003-4201-4C7B-BF0A-B27EF30AFC1C}"/>
            </c:ext>
          </c:extLst>
        </c:ser>
        <c:ser>
          <c:idx val="4"/>
          <c:order val="4"/>
          <c:tx>
            <c:strRef>
              <c:f>'Peak Business Periods'!$F$2:$F$3</c:f>
              <c:strCache>
                <c:ptCount val="1"/>
                <c:pt idx="0">
                  <c:v>05.Night</c:v>
                </c:pt>
              </c:strCache>
            </c:strRef>
          </c:tx>
          <c:spPr>
            <a:solidFill>
              <a:schemeClr val="accent5"/>
            </a:solidFill>
            <a:ln>
              <a:noFill/>
            </a:ln>
            <a:effectLst/>
          </c:spPr>
          <c:invertIfNegative val="0"/>
          <c:cat>
            <c:strRef>
              <c:f>'Peak Business Periods'!$A$4:$A$11</c:f>
              <c:strCache>
                <c:ptCount val="7"/>
                <c:pt idx="0">
                  <c:v>Sun</c:v>
                </c:pt>
                <c:pt idx="1">
                  <c:v>Mon</c:v>
                </c:pt>
                <c:pt idx="2">
                  <c:v>Tue</c:v>
                </c:pt>
                <c:pt idx="3">
                  <c:v>Wed</c:v>
                </c:pt>
                <c:pt idx="4">
                  <c:v>Thu</c:v>
                </c:pt>
                <c:pt idx="5">
                  <c:v>Fri</c:v>
                </c:pt>
                <c:pt idx="6">
                  <c:v>Sat</c:v>
                </c:pt>
              </c:strCache>
            </c:strRef>
          </c:cat>
          <c:val>
            <c:numRef>
              <c:f>'Peak Business Periods'!$F$4:$F$11</c:f>
              <c:numCache>
                <c:formatCode>General</c:formatCode>
                <c:ptCount val="7"/>
                <c:pt idx="0">
                  <c:v>1964</c:v>
                </c:pt>
                <c:pt idx="1">
                  <c:v>1995</c:v>
                </c:pt>
                <c:pt idx="2">
                  <c:v>1969</c:v>
                </c:pt>
                <c:pt idx="3">
                  <c:v>2035</c:v>
                </c:pt>
                <c:pt idx="4">
                  <c:v>2155</c:v>
                </c:pt>
                <c:pt idx="5">
                  <c:v>2113</c:v>
                </c:pt>
                <c:pt idx="6">
                  <c:v>1956</c:v>
                </c:pt>
              </c:numCache>
            </c:numRef>
          </c:val>
          <c:extLst>
            <c:ext xmlns:c16="http://schemas.microsoft.com/office/drawing/2014/chart" uri="{C3380CC4-5D6E-409C-BE32-E72D297353CC}">
              <c16:uniqueId val="{00000004-4201-4C7B-BF0A-B27EF30AFC1C}"/>
            </c:ext>
          </c:extLst>
        </c:ser>
        <c:dLbls>
          <c:showLegendKey val="0"/>
          <c:showVal val="0"/>
          <c:showCatName val="0"/>
          <c:showSerName val="0"/>
          <c:showPercent val="0"/>
          <c:showBubbleSize val="0"/>
        </c:dLbls>
        <c:gapWidth val="219"/>
        <c:overlap val="-27"/>
        <c:axId val="1066448903"/>
        <c:axId val="1066471943"/>
      </c:barChart>
      <c:catAx>
        <c:axId val="106644890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Day name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66471943"/>
        <c:crosses val="autoZero"/>
        <c:auto val="1"/>
        <c:lblAlgn val="ctr"/>
        <c:lblOffset val="100"/>
        <c:noMultiLvlLbl val="0"/>
      </c:catAx>
      <c:valAx>
        <c:axId val="106647194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 of sales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664489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acrossLinear" id="2">
  <a:schemeClr val="accent1"/>
  <a:schemeClr val="accent2"/>
  <a:schemeClr val="accent3"/>
  <a:schemeClr val="accent4"/>
  <a:schemeClr val="accent5"/>
  <a:schemeClr val="accent6"/>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698C0E1-628D-4A29-932B-81EFC1D54B0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E4E1657-5A73-426A-A66E-C4F85559BEA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C80B55D-A28C-4981-AA30-62D8B2215F35}" type="datetimeFigureOut">
              <a:rPr lang="en-US" smtClean="0"/>
              <a:t>3/29/2026</a:t>
            </a:fld>
            <a:endParaRPr lang="en-US"/>
          </a:p>
        </p:txBody>
      </p:sp>
      <p:sp>
        <p:nvSpPr>
          <p:cNvPr id="4" name="Footer Placeholder 3">
            <a:extLst>
              <a:ext uri="{FF2B5EF4-FFF2-40B4-BE49-F238E27FC236}">
                <a16:creationId xmlns:a16="http://schemas.microsoft.com/office/drawing/2014/main" id="{DBBF12EE-0BCA-4112-A66D-A1C7DDACEE3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059303C-1C5B-4166-91D0-954E1FF8A25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221B084-08CE-4CE2-A230-03FB2D2096EE}" type="slidenum">
              <a:rPr lang="en-US" smtClean="0"/>
              <a:t>‹#›</a:t>
            </a:fld>
            <a:endParaRPr lang="en-US"/>
          </a:p>
        </p:txBody>
      </p:sp>
    </p:spTree>
    <p:extLst>
      <p:ext uri="{BB962C8B-B14F-4D97-AF65-F5344CB8AC3E}">
        <p14:creationId xmlns:p14="http://schemas.microsoft.com/office/powerpoint/2010/main" val="5396255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3E07F7-7765-40B0-95C6-6F0178FC4D78}" type="datetimeFigureOut">
              <a:rPr lang="en-US" smtClean="0"/>
              <a:t>3/29/2026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4B07EB-3CEE-4B2A-A06F-03C965D4E9F1}" type="slidenum">
              <a:rPr lang="en-US" smtClean="0"/>
              <a:t>‹#›</a:t>
            </a:fld>
            <a:endParaRPr lang="en-US"/>
          </a:p>
        </p:txBody>
      </p:sp>
    </p:spTree>
    <p:extLst>
      <p:ext uri="{BB962C8B-B14F-4D97-AF65-F5344CB8AC3E}">
        <p14:creationId xmlns:p14="http://schemas.microsoft.com/office/powerpoint/2010/main" val="2076297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6BFE780-4B97-4708-B97F-94D8ADC6D799}" type="slidenum">
              <a:rPr lang="en-US" smtClean="0"/>
              <a:t>1</a:t>
            </a:fld>
            <a:endParaRPr lang="en-US"/>
          </a:p>
        </p:txBody>
      </p:sp>
    </p:spTree>
    <p:extLst>
      <p:ext uri="{BB962C8B-B14F-4D97-AF65-F5344CB8AC3E}">
        <p14:creationId xmlns:p14="http://schemas.microsoft.com/office/powerpoint/2010/main" val="446673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a:t>Analyse store, product, and customer performance over 6 months
Identify revenue drivers and underperforming areas
Provide actionable, impact-driven recommendations</a:t>
            </a:r>
            <a:endParaRPr lang="en-US"/>
          </a:p>
        </p:txBody>
      </p:sp>
      <p:sp>
        <p:nvSpPr>
          <p:cNvPr id="4" name="Slide Number Placeholder 3"/>
          <p:cNvSpPr>
            <a:spLocks noGrp="1"/>
          </p:cNvSpPr>
          <p:nvPr>
            <p:ph type="sldNum" sz="quarter" idx="10"/>
          </p:nvPr>
        </p:nvSpPr>
        <p:spPr/>
        <p:txBody>
          <a:bodyPr/>
          <a:lstStyle/>
          <a:p>
            <a:fld id="{9F8C22AF-75C7-433B-B852-69970FBFF62D}" type="slidenum">
              <a:rPr lang="en-US" smtClean="0"/>
              <a:t>2</a:t>
            </a:fld>
            <a:endParaRPr lang="en-US"/>
          </a:p>
        </p:txBody>
      </p:sp>
    </p:spTree>
    <p:extLst>
      <p:ext uri="{BB962C8B-B14F-4D97-AF65-F5344CB8AC3E}">
        <p14:creationId xmlns:p14="http://schemas.microsoft.com/office/powerpoint/2010/main" val="4254271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E6D7BE9-6C4F-48E9-816E-E7C44694421A}" type="slidenum">
              <a:rPr lang="en-US" smtClean="0"/>
              <a:t>12</a:t>
            </a:fld>
            <a:endParaRPr lang="en-US"/>
          </a:p>
        </p:txBody>
      </p:sp>
    </p:spTree>
    <p:extLst>
      <p:ext uri="{BB962C8B-B14F-4D97-AF65-F5344CB8AC3E}">
        <p14:creationId xmlns:p14="http://schemas.microsoft.com/office/powerpoint/2010/main" val="33788756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5CE08-784E-275E-2D35-06D0901EF6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36EA49-BD6C-3B6F-5012-6528CDB0CD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0EC776-26CB-257C-3E83-814A38CA4B8C}"/>
              </a:ext>
            </a:extLst>
          </p:cNvPr>
          <p:cNvSpPr>
            <a:spLocks noGrp="1"/>
          </p:cNvSpPr>
          <p:nvPr>
            <p:ph type="body" idx="1"/>
          </p:nvPr>
        </p:nvSpPr>
        <p:spPr/>
        <p:txBody>
          <a:bodyPr/>
          <a:lstStyle/>
          <a:p>
            <a:r>
              <a:rPr lang="en-GB"/>
              <a:t>BOGOF: Buy One Get One Free</a:t>
            </a:r>
            <a:endParaRPr lang="en-US"/>
          </a:p>
        </p:txBody>
      </p:sp>
      <p:sp>
        <p:nvSpPr>
          <p:cNvPr id="4" name="Slide Number Placeholder 3">
            <a:extLst>
              <a:ext uri="{FF2B5EF4-FFF2-40B4-BE49-F238E27FC236}">
                <a16:creationId xmlns:a16="http://schemas.microsoft.com/office/drawing/2014/main" id="{E0A6185D-9725-A2EF-8BC9-95F01B33095E}"/>
              </a:ext>
            </a:extLst>
          </p:cNvPr>
          <p:cNvSpPr>
            <a:spLocks noGrp="1"/>
          </p:cNvSpPr>
          <p:nvPr>
            <p:ph type="sldNum" sz="quarter" idx="10"/>
          </p:nvPr>
        </p:nvSpPr>
        <p:spPr/>
        <p:txBody>
          <a:bodyPr/>
          <a:lstStyle/>
          <a:p>
            <a:fld id="{1E6D7BE9-6C4F-48E9-816E-E7C44694421A}" type="slidenum">
              <a:rPr lang="en-US" smtClean="0"/>
              <a:t>11</a:t>
            </a:fld>
            <a:endParaRPr lang="en-US"/>
          </a:p>
        </p:txBody>
      </p:sp>
    </p:spTree>
    <p:extLst>
      <p:ext uri="{BB962C8B-B14F-4D97-AF65-F5344CB8AC3E}">
        <p14:creationId xmlns:p14="http://schemas.microsoft.com/office/powerpoint/2010/main" val="1143092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10"/>
          </p:nvPr>
        </p:nvSpPr>
        <p:spPr/>
        <p:txBody>
          <a:bodyPr/>
          <a:lstStyle/>
          <a:p>
            <a:fld id="{1E6D7BE9-6C4F-48E9-816E-E7C44694421A}" type="slidenum">
              <a:rPr lang="en-US" smtClean="0"/>
              <a:t>13</a:t>
            </a:fld>
            <a:endParaRPr lang="en-US"/>
          </a:p>
        </p:txBody>
      </p:sp>
    </p:spTree>
    <p:extLst>
      <p:ext uri="{BB962C8B-B14F-4D97-AF65-F5344CB8AC3E}">
        <p14:creationId xmlns:p14="http://schemas.microsoft.com/office/powerpoint/2010/main" val="15175678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8958888C-33C4-45BB-9053-0F238EBC2503}"/>
              </a:ext>
            </a:extLst>
          </p:cNvPr>
          <p:cNvSpPr>
            <a:spLocks noGrp="1"/>
          </p:cNvSpPr>
          <p:nvPr>
            <p:ph type="pic" sz="quarter" idx="13"/>
          </p:nvPr>
        </p:nvSpPr>
        <p:spPr>
          <a:xfrm>
            <a:off x="0" y="0"/>
            <a:ext cx="12192000" cy="6858000"/>
          </a:xfrm>
        </p:spPr>
        <p:txBody>
          <a:bodyPr/>
          <a:lstStyle/>
          <a:p>
            <a:endParaRPr lang="en-US"/>
          </a:p>
        </p:txBody>
      </p:sp>
      <p:sp useBgFill="1">
        <p:nvSpPr>
          <p:cNvPr id="10" name="Title 1">
            <a:extLst>
              <a:ext uri="{FF2B5EF4-FFF2-40B4-BE49-F238E27FC236}">
                <a16:creationId xmlns:a16="http://schemas.microsoft.com/office/drawing/2014/main" id="{E234E1C5-BD1C-4142-BA62-2A1D902B606D}"/>
              </a:ext>
            </a:extLst>
          </p:cNvPr>
          <p:cNvSpPr>
            <a:spLocks noGrp="1"/>
          </p:cNvSpPr>
          <p:nvPr>
            <p:ph type="ctrTitle"/>
          </p:nvPr>
        </p:nvSpPr>
        <p:spPr>
          <a:xfrm>
            <a:off x="2263430" y="1762887"/>
            <a:ext cx="7665140" cy="2140251"/>
          </a:xfrm>
        </p:spPr>
        <p:txBody>
          <a:bodyPr tIns="365760" anchor="ctr">
            <a:normAutofit/>
          </a:bodyPr>
          <a:lstStyle>
            <a:lvl1pPr algn="ctr">
              <a:defRPr sz="5400"/>
            </a:lvl1pPr>
          </a:lstStyle>
          <a:p>
            <a:endParaRPr lang="en-US" sz="4800"/>
          </a:p>
        </p:txBody>
      </p:sp>
      <p:sp useBgFill="1">
        <p:nvSpPr>
          <p:cNvPr id="12" name="Subtitle 2" descr="Tag=AccentColor&#10;Flavor=Light&#10;Target=Text">
            <a:extLst>
              <a:ext uri="{FF2B5EF4-FFF2-40B4-BE49-F238E27FC236}">
                <a16:creationId xmlns:a16="http://schemas.microsoft.com/office/drawing/2014/main" id="{DED57426-1707-4704-8E09-2F76090515F3}"/>
              </a:ext>
            </a:extLst>
          </p:cNvPr>
          <p:cNvSpPr>
            <a:spLocks noGrp="1"/>
          </p:cNvSpPr>
          <p:nvPr>
            <p:ph type="subTitle" idx="1"/>
          </p:nvPr>
        </p:nvSpPr>
        <p:spPr>
          <a:xfrm>
            <a:off x="2263430" y="3903138"/>
            <a:ext cx="7665139" cy="1191977"/>
          </a:xfrm>
        </p:spPr>
        <p:txBody>
          <a:bodyPr/>
          <a:lstStyle>
            <a:lvl1pPr marL="0" indent="0" algn="ctr">
              <a:buNone/>
              <a:defRPr/>
            </a:lvl1pPr>
          </a:lstStyle>
          <a:p>
            <a:endParaRPr lang="en-US"/>
          </a:p>
        </p:txBody>
      </p:sp>
    </p:spTree>
    <p:extLst>
      <p:ext uri="{BB962C8B-B14F-4D97-AF65-F5344CB8AC3E}">
        <p14:creationId xmlns:p14="http://schemas.microsoft.com/office/powerpoint/2010/main" val="3600301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B2FCC-99C4-4C2B-99B4-9C5E13D5344B}"/>
              </a:ext>
            </a:extLst>
          </p:cNvPr>
          <p:cNvSpPr>
            <a:spLocks noGrp="1"/>
          </p:cNvSpPr>
          <p:nvPr>
            <p:ph type="title"/>
          </p:nvPr>
        </p:nvSpPr>
        <p:spPr>
          <a:xfrm>
            <a:off x="8050975" y="782122"/>
            <a:ext cx="3619500" cy="2492828"/>
          </a:xfrm>
        </p:spPr>
        <p:txBody>
          <a:bodyPr anchor="b"/>
          <a:lstStyle>
            <a:lvl1pPr algn="l">
              <a:spcBef>
                <a:spcPts val="960"/>
              </a:spcBef>
              <a:spcAft>
                <a:spcPts val="600"/>
              </a:spcAft>
              <a:defRPr/>
            </a:lvl1pPr>
          </a:lstStyle>
          <a:p>
            <a:r>
              <a:rPr lang="en-US"/>
              <a:t>Click to edit Master title style</a:t>
            </a:r>
          </a:p>
        </p:txBody>
      </p:sp>
      <p:sp>
        <p:nvSpPr>
          <p:cNvPr id="11" name="Picture Placeholder 10">
            <a:extLst>
              <a:ext uri="{FF2B5EF4-FFF2-40B4-BE49-F238E27FC236}">
                <a16:creationId xmlns:a16="http://schemas.microsoft.com/office/drawing/2014/main" id="{8958888C-33C4-45BB-9053-0F238EBC2503}"/>
              </a:ext>
            </a:extLst>
          </p:cNvPr>
          <p:cNvSpPr>
            <a:spLocks noGrp="1"/>
          </p:cNvSpPr>
          <p:nvPr>
            <p:ph type="pic" sz="quarter" idx="13"/>
          </p:nvPr>
        </p:nvSpPr>
        <p:spPr>
          <a:xfrm>
            <a:off x="-4740" y="0"/>
            <a:ext cx="3754712" cy="2675444"/>
          </a:xfrm>
          <a:ln>
            <a:noFill/>
          </a:ln>
        </p:spPr>
        <p:txBody>
          <a:bodyPr/>
          <a:lstStyle/>
          <a:p>
            <a:endParaRPr lang="en-US"/>
          </a:p>
        </p:txBody>
      </p:sp>
      <p:sp>
        <p:nvSpPr>
          <p:cNvPr id="19" name="Picture Placeholder 10">
            <a:extLst>
              <a:ext uri="{FF2B5EF4-FFF2-40B4-BE49-F238E27FC236}">
                <a16:creationId xmlns:a16="http://schemas.microsoft.com/office/drawing/2014/main" id="{B5F49914-A317-424F-9214-203370D7674B}"/>
              </a:ext>
            </a:extLst>
          </p:cNvPr>
          <p:cNvSpPr>
            <a:spLocks noGrp="1"/>
          </p:cNvSpPr>
          <p:nvPr>
            <p:ph type="pic" sz="quarter" idx="14"/>
          </p:nvPr>
        </p:nvSpPr>
        <p:spPr>
          <a:xfrm>
            <a:off x="3749972" y="0"/>
            <a:ext cx="3793815" cy="2675444"/>
          </a:xfrm>
          <a:ln>
            <a:noFill/>
          </a:ln>
        </p:spPr>
        <p:txBody>
          <a:bodyPr/>
          <a:lstStyle/>
          <a:p>
            <a:endParaRPr lang="en-US"/>
          </a:p>
        </p:txBody>
      </p:sp>
      <p:sp>
        <p:nvSpPr>
          <p:cNvPr id="20" name="Picture Placeholder 10">
            <a:extLst>
              <a:ext uri="{FF2B5EF4-FFF2-40B4-BE49-F238E27FC236}">
                <a16:creationId xmlns:a16="http://schemas.microsoft.com/office/drawing/2014/main" id="{B68EE34D-80C0-4CEE-99D1-3C91F6626DFF}"/>
              </a:ext>
            </a:extLst>
          </p:cNvPr>
          <p:cNvSpPr>
            <a:spLocks noGrp="1"/>
          </p:cNvSpPr>
          <p:nvPr>
            <p:ph type="pic" sz="quarter" idx="15"/>
          </p:nvPr>
        </p:nvSpPr>
        <p:spPr>
          <a:xfrm>
            <a:off x="-4740" y="2675444"/>
            <a:ext cx="7543904" cy="4182556"/>
          </a:xfrm>
          <a:ln>
            <a:noFill/>
          </a:ln>
        </p:spPr>
        <p:txBody>
          <a:bodyPr/>
          <a:lstStyle/>
          <a:p>
            <a:endParaRPr lang="en-US"/>
          </a:p>
        </p:txBody>
      </p:sp>
      <p:sp>
        <p:nvSpPr>
          <p:cNvPr id="12" name="Footer Placeholder 4">
            <a:extLst>
              <a:ext uri="{FF2B5EF4-FFF2-40B4-BE49-F238E27FC236}">
                <a16:creationId xmlns:a16="http://schemas.microsoft.com/office/drawing/2014/main" id="{25E34894-A499-4CC3-9F3E-BB0B1268CC35}"/>
              </a:ext>
            </a:extLst>
          </p:cNvPr>
          <p:cNvSpPr>
            <a:spLocks noGrp="1"/>
          </p:cNvSpPr>
          <p:nvPr>
            <p:ph type="ftr" sz="quarter" idx="11"/>
          </p:nvPr>
        </p:nvSpPr>
        <p:spPr>
          <a:xfrm>
            <a:off x="913795" y="6000749"/>
            <a:ext cx="6672865" cy="365125"/>
          </a:xfrm>
        </p:spPr>
        <p:txBody>
          <a:bodyPr/>
          <a:lstStyle/>
          <a:p>
            <a:r>
              <a:rPr lang="en-US"/>
              <a:t>Sample footer text</a:t>
            </a:r>
          </a:p>
        </p:txBody>
      </p:sp>
      <p:sp>
        <p:nvSpPr>
          <p:cNvPr id="23" name="Text Placeholder 22">
            <a:extLst>
              <a:ext uri="{FF2B5EF4-FFF2-40B4-BE49-F238E27FC236}">
                <a16:creationId xmlns:a16="http://schemas.microsoft.com/office/drawing/2014/main" id="{6F37D4A7-7BA4-4331-82C1-818D1B5B05B2}"/>
              </a:ext>
            </a:extLst>
          </p:cNvPr>
          <p:cNvSpPr>
            <a:spLocks noGrp="1"/>
          </p:cNvSpPr>
          <p:nvPr>
            <p:ph type="body" sz="quarter" idx="17"/>
          </p:nvPr>
        </p:nvSpPr>
        <p:spPr>
          <a:xfrm>
            <a:off x="8042275" y="3592286"/>
            <a:ext cx="3619500" cy="1992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r>
              <a:rPr lang="en-US"/>
              <a:t>20XX</a:t>
            </a:r>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741879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p:cNvSpPr>
            <a:spLocks noGrp="1"/>
          </p:cNvSpPr>
          <p:nvPr>
            <p:ph type="ctrTitle"/>
          </p:nvPr>
        </p:nvSpPr>
        <p:spPr>
          <a:xfrm>
            <a:off x="913335" y="1233378"/>
            <a:ext cx="5697102" cy="1405366"/>
          </a:xfrm>
        </p:spPr>
        <p:txBody>
          <a:bodyPr anchor="b">
            <a:noAutofit/>
          </a:bodyPr>
          <a:lstStyle>
            <a:lvl1pPr algn="ctr">
              <a:defRPr sz="4000"/>
            </a:lvl1pPr>
          </a:lstStyle>
          <a:p>
            <a:r>
              <a:rPr lang="en-US"/>
              <a:t>Click to edit Master title style</a:t>
            </a:r>
          </a:p>
        </p:txBody>
      </p:sp>
      <p:sp>
        <p:nvSpPr>
          <p:cNvPr id="3" name="Subtitle 2"/>
          <p:cNvSpPr>
            <a:spLocks noGrp="1"/>
          </p:cNvSpPr>
          <p:nvPr>
            <p:ph type="subTitle" idx="1"/>
          </p:nvPr>
        </p:nvSpPr>
        <p:spPr>
          <a:xfrm>
            <a:off x="913795" y="3002281"/>
            <a:ext cx="5686437" cy="2271393"/>
          </a:xfrm>
        </p:spPr>
        <p:txBody>
          <a:bodyPr anchor="t">
            <a:normAutofit/>
          </a:bodyPr>
          <a:lstStyle>
            <a:lvl1pPr marL="0" indent="0" algn="ctr">
              <a:buNone/>
              <a:defRPr lang="en-US" sz="2000" kern="1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Calibri"/>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11"/>
          </p:nvPr>
        </p:nvSpPr>
        <p:spPr/>
        <p:txBody>
          <a:bodyPr/>
          <a:lstStyle/>
          <a:p>
            <a:r>
              <a:rPr lang="en-US"/>
              <a:t>Sample footer text</a:t>
            </a:r>
          </a:p>
        </p:txBody>
      </p:sp>
      <p:sp>
        <p:nvSpPr>
          <p:cNvPr id="13" name="Picture Placeholder 12">
            <a:extLst>
              <a:ext uri="{FF2B5EF4-FFF2-40B4-BE49-F238E27FC236}">
                <a16:creationId xmlns:a16="http://schemas.microsoft.com/office/drawing/2014/main" id="{F93FCD85-64A9-4257-8703-568A1629E13D}"/>
              </a:ext>
            </a:extLst>
          </p:cNvPr>
          <p:cNvSpPr>
            <a:spLocks noGrp="1"/>
          </p:cNvSpPr>
          <p:nvPr>
            <p:ph type="pic" sz="quarter" idx="13"/>
          </p:nvPr>
        </p:nvSpPr>
        <p:spPr>
          <a:xfrm>
            <a:off x="7596864" y="0"/>
            <a:ext cx="4572000" cy="6858000"/>
          </a:xfrm>
        </p:spPr>
        <p:txBody>
          <a:bodyPr/>
          <a:lstStyle/>
          <a:p>
            <a:endParaRPr lang="en-US"/>
          </a:p>
        </p:txBody>
      </p:sp>
      <p:pic>
        <p:nvPicPr>
          <p:cNvPr id="9" name="Picture 8">
            <a:extLst>
              <a:ext uri="{FF2B5EF4-FFF2-40B4-BE49-F238E27FC236}">
                <a16:creationId xmlns:a16="http://schemas.microsoft.com/office/drawing/2014/main" id="{1A47AB1B-8039-41F6-A255-B03F33FB635C}"/>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7501468" y="1"/>
            <a:ext cx="4690532" cy="6858000"/>
          </a:xfrm>
          <a:prstGeom prst="rect">
            <a:avLst/>
          </a:prstGeom>
        </p:spPr>
      </p:pic>
      <p:sp>
        <p:nvSpPr>
          <p:cNvPr id="10" name="Date Placeholder 3">
            <a:extLst>
              <a:ext uri="{FF2B5EF4-FFF2-40B4-BE49-F238E27FC236}">
                <a16:creationId xmlns:a16="http://schemas.microsoft.com/office/drawing/2014/main" id="{FBC8FC98-420D-47E9-A6BF-65337349F5D7}"/>
              </a:ext>
            </a:extLst>
          </p:cNvPr>
          <p:cNvSpPr>
            <a:spLocks noGrp="1"/>
          </p:cNvSpPr>
          <p:nvPr>
            <p:ph type="dt" sz="half" idx="10"/>
          </p:nvPr>
        </p:nvSpPr>
        <p:spPr>
          <a:xfrm>
            <a:off x="7678736" y="6000749"/>
            <a:ext cx="2743200" cy="365125"/>
          </a:xfrm>
        </p:spPr>
        <p:txBody>
          <a:bodyPr/>
          <a:lstStyle>
            <a:lvl1pPr>
              <a:defRPr/>
            </a:lvl1pPr>
          </a:lstStyle>
          <a:p>
            <a:r>
              <a:rPr lang="en-US"/>
              <a:t>20XX</a:t>
            </a:r>
          </a:p>
        </p:txBody>
      </p:sp>
      <p:sp>
        <p:nvSpPr>
          <p:cNvPr id="11" name="Slide Number Placeholder 5">
            <a:extLst>
              <a:ext uri="{FF2B5EF4-FFF2-40B4-BE49-F238E27FC236}">
                <a16:creationId xmlns:a16="http://schemas.microsoft.com/office/drawing/2014/main" id="{016EE41C-5E1E-448A-AC09-A8C32B4A87FA}"/>
              </a:ext>
            </a:extLst>
          </p:cNvPr>
          <p:cNvSpPr>
            <a:spLocks noGrp="1"/>
          </p:cNvSpPr>
          <p:nvPr>
            <p:ph type="sldNum" sz="quarter" idx="12"/>
          </p:nvPr>
        </p:nvSpPr>
        <p:spPr>
          <a:xfrm>
            <a:off x="10514011" y="6000749"/>
            <a:ext cx="753545"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387973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2" name="Title 1"/>
          <p:cNvSpPr>
            <a:spLocks noGrp="1"/>
          </p:cNvSpPr>
          <p:nvPr>
            <p:ph type="title"/>
          </p:nvPr>
        </p:nvSpPr>
        <p:spPr>
          <a:xfrm>
            <a:off x="1370693" y="4913529"/>
            <a:ext cx="9440034" cy="680691"/>
          </a:xfrm>
        </p:spPr>
        <p:txBody>
          <a:bodyPr/>
          <a:lstStyle/>
          <a:p>
            <a:r>
              <a:rPr lang="en-US"/>
              <a:t>Click to edit Master title style</a:t>
            </a:r>
          </a:p>
        </p:txBody>
      </p:sp>
      <p:sp>
        <p:nvSpPr>
          <p:cNvPr id="8" name="Subtitle 2">
            <a:extLst>
              <a:ext uri="{FF2B5EF4-FFF2-40B4-BE49-F238E27FC236}">
                <a16:creationId xmlns:a16="http://schemas.microsoft.com/office/drawing/2014/main" id="{29CC1453-4E18-4960-B6D5-529F625B9A3C}"/>
              </a:ext>
            </a:extLst>
          </p:cNvPr>
          <p:cNvSpPr>
            <a:spLocks noGrp="1"/>
          </p:cNvSpPr>
          <p:nvPr>
            <p:ph type="subTitle" idx="1"/>
          </p:nvPr>
        </p:nvSpPr>
        <p:spPr>
          <a:xfrm>
            <a:off x="1370693" y="5713343"/>
            <a:ext cx="9440034" cy="436942"/>
          </a:xfrm>
        </p:spPr>
        <p:txBody>
          <a:bodyPr/>
          <a:lstStyle>
            <a:lvl1pPr marL="36900" indent="0" algn="ctr">
              <a:buNone/>
              <a:defRPr/>
            </a:lvl1pPr>
          </a:lstStyle>
          <a:p>
            <a:r>
              <a:rPr lang="en-US"/>
              <a:t>Subtitle</a:t>
            </a:r>
          </a:p>
        </p:txBody>
      </p:sp>
      <p:sp>
        <p:nvSpPr>
          <p:cNvPr id="16" name="Picture Placeholder 15">
            <a:extLst>
              <a:ext uri="{FF2B5EF4-FFF2-40B4-BE49-F238E27FC236}">
                <a16:creationId xmlns:a16="http://schemas.microsoft.com/office/drawing/2014/main" id="{ADDA07CD-6F66-4875-B1ED-5D11B9642B31}"/>
              </a:ext>
            </a:extLst>
          </p:cNvPr>
          <p:cNvSpPr>
            <a:spLocks noGrp="1"/>
          </p:cNvSpPr>
          <p:nvPr>
            <p:ph type="pic" sz="quarter" idx="13"/>
          </p:nvPr>
        </p:nvSpPr>
        <p:spPr>
          <a:xfrm>
            <a:off x="642938" y="642938"/>
            <a:ext cx="5130800" cy="3303587"/>
          </a:xfrm>
        </p:spPr>
        <p:txBody>
          <a:bodyPr/>
          <a:lstStyle/>
          <a:p>
            <a:endParaRPr lang="en-US"/>
          </a:p>
        </p:txBody>
      </p:sp>
      <p:sp>
        <p:nvSpPr>
          <p:cNvPr id="17" name="Picture Placeholder 15">
            <a:extLst>
              <a:ext uri="{FF2B5EF4-FFF2-40B4-BE49-F238E27FC236}">
                <a16:creationId xmlns:a16="http://schemas.microsoft.com/office/drawing/2014/main" id="{E1CB1643-335F-4FF9-8A42-C5652761302E}"/>
              </a:ext>
            </a:extLst>
          </p:cNvPr>
          <p:cNvSpPr>
            <a:spLocks noGrp="1"/>
          </p:cNvSpPr>
          <p:nvPr>
            <p:ph type="pic" sz="quarter" idx="14"/>
          </p:nvPr>
        </p:nvSpPr>
        <p:spPr>
          <a:xfrm>
            <a:off x="6417733" y="642937"/>
            <a:ext cx="5130800" cy="3303587"/>
          </a:xfrm>
        </p:spPr>
        <p:txBody>
          <a:bodyPr/>
          <a:lstStyle/>
          <a:p>
            <a:endParaRPr lang="en-US"/>
          </a:p>
        </p:txBody>
      </p:sp>
      <p:pic>
        <p:nvPicPr>
          <p:cNvPr id="9" name="Picture 8">
            <a:extLst>
              <a:ext uri="{FF2B5EF4-FFF2-40B4-BE49-F238E27FC236}">
                <a16:creationId xmlns:a16="http://schemas.microsoft.com/office/drawing/2014/main" id="{44843549-5E1B-48B7-A510-624588410748}"/>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1" y="0"/>
            <a:ext cx="12192001" cy="4322278"/>
          </a:xfrm>
          <a:prstGeom prst="rect">
            <a:avLst/>
          </a:prstGeom>
        </p:spPr>
      </p:pic>
      <p:cxnSp>
        <p:nvCxnSpPr>
          <p:cNvPr id="11" name="Straight Connector 10">
            <a:extLst>
              <a:ext uri="{FF2B5EF4-FFF2-40B4-BE49-F238E27FC236}">
                <a16:creationId xmlns:a16="http://schemas.microsoft.com/office/drawing/2014/main" id="{43B5FF67-7EEC-4AB0-8445-132F99922894}"/>
              </a:ext>
              <a:ext uri="{C183D7F6-B498-43B3-948B-1728B52AA6E4}">
                <adec:decorative xmlns:adec="http://schemas.microsoft.com/office/drawing/2017/decorative" val="1"/>
              </a:ext>
            </a:extLst>
          </p:cNvPr>
          <p:cNvCxnSpPr/>
          <p:nvPr userDrawn="1"/>
        </p:nvCxnSpPr>
        <p:spPr>
          <a:xfrm>
            <a:off x="6096000" y="1609536"/>
            <a:ext cx="0" cy="1371600"/>
          </a:xfrm>
          <a:prstGeom prst="line">
            <a:avLst/>
          </a:prstGeom>
          <a:ln w="19050">
            <a:solidFill>
              <a:schemeClr val="tx1">
                <a:lumMod val="75000"/>
              </a:schemeClr>
            </a:solidFill>
          </a:ln>
          <a:effectLst>
            <a:innerShdw blurRad="114300">
              <a:prstClr val="black"/>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3172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Chart, table, time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Sample footer text</a:t>
            </a:r>
          </a:p>
        </p:txBody>
      </p:sp>
      <p:sp>
        <p:nvSpPr>
          <p:cNvPr id="4" name="Date Placeholder 3"/>
          <p:cNvSpPr>
            <a:spLocks noGrp="1"/>
          </p:cNvSpPr>
          <p:nvPr>
            <p:ph type="dt" sz="half" idx="10"/>
          </p:nvPr>
        </p:nvSpPr>
        <p:spPr/>
        <p:txBody>
          <a:bodyPr/>
          <a:lstStyle>
            <a:lvl1pPr>
              <a:defRPr/>
            </a:lvl1pPr>
          </a:lstStyle>
          <a:p>
            <a:r>
              <a:rPr lang="en-US"/>
              <a:t>20XX</a:t>
            </a:r>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972902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6754A53-50F5-4BFC-9D4B-69FF19B5766A}"/>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7501468" y="1"/>
            <a:ext cx="4690532" cy="6858000"/>
          </a:xfrm>
          <a:prstGeom prst="rect">
            <a:avLst/>
          </a:prstGeom>
        </p:spPr>
      </p:pic>
      <p:sp>
        <p:nvSpPr>
          <p:cNvPr id="2" name="Title 1">
            <a:extLst>
              <a:ext uri="{FF2B5EF4-FFF2-40B4-BE49-F238E27FC236}">
                <a16:creationId xmlns:a16="http://schemas.microsoft.com/office/drawing/2014/main" id="{5EE3AA4C-F452-4742-B62F-D92ACEB05867}"/>
              </a:ext>
            </a:extLst>
          </p:cNvPr>
          <p:cNvSpPr>
            <a:spLocks noGrp="1"/>
          </p:cNvSpPr>
          <p:nvPr>
            <p:ph type="title"/>
          </p:nvPr>
        </p:nvSpPr>
        <p:spPr>
          <a:xfrm>
            <a:off x="1158948" y="1233378"/>
            <a:ext cx="5441285" cy="2911902"/>
          </a:xfrm>
        </p:spPr>
        <p:txBody>
          <a:bodyPr>
            <a:normAutofit/>
          </a:bodyPr>
          <a:lstStyle>
            <a:lvl1pPr>
              <a:defRPr sz="4400"/>
            </a:lvl1pPr>
          </a:lstStyle>
          <a:p>
            <a:r>
              <a:rPr lang="en-US"/>
              <a:t>Click to edit Master title style</a:t>
            </a:r>
          </a:p>
        </p:txBody>
      </p:sp>
      <p:sp>
        <p:nvSpPr>
          <p:cNvPr id="7" name="Subtitle 2">
            <a:extLst>
              <a:ext uri="{FF2B5EF4-FFF2-40B4-BE49-F238E27FC236}">
                <a16:creationId xmlns:a16="http://schemas.microsoft.com/office/drawing/2014/main" id="{C4A6F582-B177-429F-8965-8FC2335DBCC9}"/>
              </a:ext>
            </a:extLst>
          </p:cNvPr>
          <p:cNvSpPr>
            <a:spLocks noGrp="1"/>
          </p:cNvSpPr>
          <p:nvPr>
            <p:ph type="subTitle" idx="1"/>
          </p:nvPr>
        </p:nvSpPr>
        <p:spPr>
          <a:xfrm>
            <a:off x="1158948" y="4495800"/>
            <a:ext cx="5441286" cy="777874"/>
          </a:xfrm>
        </p:spPr>
        <p:txBody>
          <a:bodyPr/>
          <a:lstStyle>
            <a:lvl1pPr marL="36900" indent="0" algn="ctr">
              <a:buNone/>
              <a:defRPr/>
            </a:lvl1pPr>
          </a:lstStyle>
          <a:p>
            <a:endParaRPr lang="en-US"/>
          </a:p>
        </p:txBody>
      </p:sp>
      <p:sp>
        <p:nvSpPr>
          <p:cNvPr id="4" name="Footer Placeholder 3">
            <a:extLst>
              <a:ext uri="{FF2B5EF4-FFF2-40B4-BE49-F238E27FC236}">
                <a16:creationId xmlns:a16="http://schemas.microsoft.com/office/drawing/2014/main" id="{D5708956-7306-4C30-B1DF-68E2666A233C}"/>
              </a:ext>
            </a:extLst>
          </p:cNvPr>
          <p:cNvSpPr>
            <a:spLocks noGrp="1"/>
          </p:cNvSpPr>
          <p:nvPr>
            <p:ph type="ftr" sz="quarter" idx="11"/>
          </p:nvPr>
        </p:nvSpPr>
        <p:spPr>
          <a:xfrm>
            <a:off x="913796" y="6000749"/>
            <a:ext cx="5686438" cy="365125"/>
          </a:xfrm>
        </p:spPr>
        <p:txBody>
          <a:bodyPr/>
          <a:lstStyle/>
          <a:p>
            <a:r>
              <a:rPr lang="en-US"/>
              <a:t>Sample footer text</a:t>
            </a:r>
          </a:p>
        </p:txBody>
      </p:sp>
      <p:sp>
        <p:nvSpPr>
          <p:cNvPr id="17" name="Picture Placeholder 16">
            <a:extLst>
              <a:ext uri="{FF2B5EF4-FFF2-40B4-BE49-F238E27FC236}">
                <a16:creationId xmlns:a16="http://schemas.microsoft.com/office/drawing/2014/main" id="{F5FA9922-F4B7-458A-B446-58C5673A30DC}"/>
              </a:ext>
            </a:extLst>
          </p:cNvPr>
          <p:cNvSpPr>
            <a:spLocks noGrp="1"/>
          </p:cNvSpPr>
          <p:nvPr>
            <p:ph type="pic" sz="quarter" idx="12"/>
          </p:nvPr>
        </p:nvSpPr>
        <p:spPr>
          <a:xfrm>
            <a:off x="7848600" y="642938"/>
            <a:ext cx="3700463" cy="2625725"/>
          </a:xfrm>
        </p:spPr>
        <p:txBody>
          <a:bodyPr/>
          <a:lstStyle/>
          <a:p>
            <a:endParaRPr lang="en-US"/>
          </a:p>
        </p:txBody>
      </p:sp>
      <p:sp>
        <p:nvSpPr>
          <p:cNvPr id="18" name="Picture Placeholder 16">
            <a:extLst>
              <a:ext uri="{FF2B5EF4-FFF2-40B4-BE49-F238E27FC236}">
                <a16:creationId xmlns:a16="http://schemas.microsoft.com/office/drawing/2014/main" id="{A931B751-CD27-4E96-B65A-1D983D265034}"/>
              </a:ext>
            </a:extLst>
          </p:cNvPr>
          <p:cNvSpPr>
            <a:spLocks noGrp="1"/>
          </p:cNvSpPr>
          <p:nvPr>
            <p:ph type="pic" sz="quarter" idx="13"/>
          </p:nvPr>
        </p:nvSpPr>
        <p:spPr>
          <a:xfrm>
            <a:off x="7848600" y="3600901"/>
            <a:ext cx="3700463" cy="2625725"/>
          </a:xfrm>
        </p:spPr>
        <p:txBody>
          <a:bodyPr/>
          <a:lstStyle/>
          <a:p>
            <a:endParaRPr lang="en-US"/>
          </a:p>
        </p:txBody>
      </p:sp>
    </p:spTree>
    <p:extLst>
      <p:ext uri="{BB962C8B-B14F-4D97-AF65-F5344CB8AC3E}">
        <p14:creationId xmlns:p14="http://schemas.microsoft.com/office/powerpoint/2010/main" val="1267807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9B87676-021D-46A4-8D5E-AAB45A5F2EB7}"/>
              </a:ext>
              <a:ext uri="{C183D7F6-B498-43B3-948B-1728B52AA6E4}">
                <adec:decorative xmlns:adec="http://schemas.microsoft.com/office/drawing/2017/decorative" val="1"/>
              </a:ext>
            </a:extLst>
          </p:cNvPr>
          <p:cNvSpPr/>
          <p:nvPr userDrawn="1"/>
        </p:nvSpPr>
        <p:spPr>
          <a:xfrm>
            <a:off x="660053" y="2057400"/>
            <a:ext cx="2359477" cy="2743200"/>
          </a:xfrm>
          <a:prstGeom prst="rect">
            <a:avLst/>
          </a:prstGeom>
          <a:solidFill>
            <a:schemeClr val="tx1"/>
          </a:solidFill>
          <a:ln w="190500">
            <a:solidFill>
              <a:schemeClr val="tx1">
                <a:alpha val="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a:t>Click to edit Master title style</a:t>
            </a:r>
          </a:p>
        </p:txBody>
      </p:sp>
      <p:sp>
        <p:nvSpPr>
          <p:cNvPr id="32" name="Picture Placeholder 31">
            <a:extLst>
              <a:ext uri="{FF2B5EF4-FFF2-40B4-BE49-F238E27FC236}">
                <a16:creationId xmlns:a16="http://schemas.microsoft.com/office/drawing/2014/main" id="{3E2461C8-280B-42BE-8793-5F1B2C4C0A30}"/>
              </a:ext>
            </a:extLst>
          </p:cNvPr>
          <p:cNvSpPr>
            <a:spLocks noGrp="1"/>
          </p:cNvSpPr>
          <p:nvPr>
            <p:ph type="pic" sz="quarter" idx="13"/>
          </p:nvPr>
        </p:nvSpPr>
        <p:spPr>
          <a:xfrm>
            <a:off x="913796" y="2327275"/>
            <a:ext cx="1827818" cy="2181225"/>
          </a:xfrm>
        </p:spPr>
        <p:txBody>
          <a:bodyPr/>
          <a:lstStyle/>
          <a:p>
            <a:endParaRPr lang="en-US"/>
          </a:p>
        </p:txBody>
      </p:sp>
      <p:sp>
        <p:nvSpPr>
          <p:cNvPr id="10" name="Rectangle 9">
            <a:extLst>
              <a:ext uri="{FF2B5EF4-FFF2-40B4-BE49-F238E27FC236}">
                <a16:creationId xmlns:a16="http://schemas.microsoft.com/office/drawing/2014/main" id="{B256D654-5693-4897-AD58-F42CEECEC0EF}"/>
              </a:ext>
              <a:ext uri="{C183D7F6-B498-43B3-948B-1728B52AA6E4}">
                <adec:decorative xmlns:adec="http://schemas.microsoft.com/office/drawing/2017/decorative" val="1"/>
              </a:ext>
            </a:extLst>
          </p:cNvPr>
          <p:cNvSpPr/>
          <p:nvPr userDrawn="1"/>
        </p:nvSpPr>
        <p:spPr>
          <a:xfrm>
            <a:off x="3452764" y="2057400"/>
            <a:ext cx="2359477" cy="2743200"/>
          </a:xfrm>
          <a:prstGeom prst="rect">
            <a:avLst/>
          </a:prstGeom>
          <a:solidFill>
            <a:schemeClr val="tx1"/>
          </a:solidFill>
          <a:ln w="190500">
            <a:solidFill>
              <a:schemeClr val="tx1">
                <a:alpha val="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E7D5C18-F020-4168-9A98-D4162006A81B}"/>
              </a:ext>
              <a:ext uri="{C183D7F6-B498-43B3-948B-1728B52AA6E4}">
                <adec:decorative xmlns:adec="http://schemas.microsoft.com/office/drawing/2017/decorative" val="1"/>
              </a:ext>
            </a:extLst>
          </p:cNvPr>
          <p:cNvSpPr/>
          <p:nvPr userDrawn="1"/>
        </p:nvSpPr>
        <p:spPr>
          <a:xfrm>
            <a:off x="6245475" y="2057400"/>
            <a:ext cx="2359477" cy="2743200"/>
          </a:xfrm>
          <a:prstGeom prst="rect">
            <a:avLst/>
          </a:prstGeom>
          <a:solidFill>
            <a:schemeClr val="tx1"/>
          </a:solidFill>
          <a:ln w="190500">
            <a:solidFill>
              <a:schemeClr val="tx1">
                <a:alpha val="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19BC3A-55C2-47AD-93E5-368070939BF6}"/>
              </a:ext>
              <a:ext uri="{C183D7F6-B498-43B3-948B-1728B52AA6E4}">
                <adec:decorative xmlns:adec="http://schemas.microsoft.com/office/drawing/2017/decorative" val="1"/>
              </a:ext>
            </a:extLst>
          </p:cNvPr>
          <p:cNvSpPr/>
          <p:nvPr userDrawn="1"/>
        </p:nvSpPr>
        <p:spPr>
          <a:xfrm>
            <a:off x="9038186" y="2043502"/>
            <a:ext cx="2359477" cy="2743200"/>
          </a:xfrm>
          <a:prstGeom prst="rect">
            <a:avLst/>
          </a:prstGeom>
          <a:solidFill>
            <a:schemeClr val="tx1"/>
          </a:solidFill>
          <a:ln w="190500">
            <a:solidFill>
              <a:schemeClr val="tx1">
                <a:alpha val="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icture Placeholder 31">
            <a:extLst>
              <a:ext uri="{FF2B5EF4-FFF2-40B4-BE49-F238E27FC236}">
                <a16:creationId xmlns:a16="http://schemas.microsoft.com/office/drawing/2014/main" id="{E249A1C0-506E-4C49-A763-DA0BF00B5AFC}"/>
              </a:ext>
            </a:extLst>
          </p:cNvPr>
          <p:cNvSpPr>
            <a:spLocks noGrp="1"/>
          </p:cNvSpPr>
          <p:nvPr>
            <p:ph type="pic" sz="quarter" idx="14"/>
          </p:nvPr>
        </p:nvSpPr>
        <p:spPr>
          <a:xfrm>
            <a:off x="3718593" y="2327275"/>
            <a:ext cx="1827818" cy="2181225"/>
          </a:xfrm>
        </p:spPr>
        <p:txBody>
          <a:bodyPr/>
          <a:lstStyle/>
          <a:p>
            <a:endParaRPr lang="en-US"/>
          </a:p>
        </p:txBody>
      </p:sp>
      <p:sp>
        <p:nvSpPr>
          <p:cNvPr id="34" name="Picture Placeholder 31">
            <a:extLst>
              <a:ext uri="{FF2B5EF4-FFF2-40B4-BE49-F238E27FC236}">
                <a16:creationId xmlns:a16="http://schemas.microsoft.com/office/drawing/2014/main" id="{C9B12B3E-6E6A-4B9F-BCDC-ABAB3007AE6C}"/>
              </a:ext>
            </a:extLst>
          </p:cNvPr>
          <p:cNvSpPr>
            <a:spLocks noGrp="1"/>
          </p:cNvSpPr>
          <p:nvPr>
            <p:ph type="pic" sz="quarter" idx="15"/>
          </p:nvPr>
        </p:nvSpPr>
        <p:spPr>
          <a:xfrm>
            <a:off x="6511305" y="2327275"/>
            <a:ext cx="1827818" cy="2181225"/>
          </a:xfrm>
        </p:spPr>
        <p:txBody>
          <a:bodyPr/>
          <a:lstStyle/>
          <a:p>
            <a:endParaRPr lang="en-US"/>
          </a:p>
        </p:txBody>
      </p:sp>
      <p:sp>
        <p:nvSpPr>
          <p:cNvPr id="35" name="Picture Placeholder 31">
            <a:extLst>
              <a:ext uri="{FF2B5EF4-FFF2-40B4-BE49-F238E27FC236}">
                <a16:creationId xmlns:a16="http://schemas.microsoft.com/office/drawing/2014/main" id="{961CEF8D-8303-439E-BDF8-3983FAE33E12}"/>
              </a:ext>
            </a:extLst>
          </p:cNvPr>
          <p:cNvSpPr>
            <a:spLocks noGrp="1"/>
          </p:cNvSpPr>
          <p:nvPr>
            <p:ph type="pic" sz="quarter" idx="16"/>
          </p:nvPr>
        </p:nvSpPr>
        <p:spPr>
          <a:xfrm>
            <a:off x="9304015" y="2327275"/>
            <a:ext cx="1827818" cy="2181225"/>
          </a:xfrm>
        </p:spPr>
        <p:txBody>
          <a:bodyPr/>
          <a:lstStyle/>
          <a:p>
            <a:endParaRPr lang="en-US"/>
          </a:p>
        </p:txBody>
      </p:sp>
      <p:sp>
        <p:nvSpPr>
          <p:cNvPr id="36" name="Text Placeholder 27">
            <a:extLst>
              <a:ext uri="{FF2B5EF4-FFF2-40B4-BE49-F238E27FC236}">
                <a16:creationId xmlns:a16="http://schemas.microsoft.com/office/drawing/2014/main" id="{4BDD0E13-DDEB-44F9-8676-F70405015877}"/>
              </a:ext>
            </a:extLst>
          </p:cNvPr>
          <p:cNvSpPr>
            <a:spLocks noGrp="1"/>
          </p:cNvSpPr>
          <p:nvPr>
            <p:ph type="body" sz="quarter" idx="17"/>
          </p:nvPr>
        </p:nvSpPr>
        <p:spPr>
          <a:xfrm>
            <a:off x="660054" y="5017734"/>
            <a:ext cx="2359476" cy="350292"/>
          </a:xfrm>
        </p:spPr>
        <p:txBody>
          <a:bodyPr>
            <a:normAutofit/>
          </a:bodyPr>
          <a:lstStyle>
            <a:lvl1pPr marL="3690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a:t>
            </a:r>
          </a:p>
        </p:txBody>
      </p:sp>
      <p:sp>
        <p:nvSpPr>
          <p:cNvPr id="37" name="Text Placeholder 27">
            <a:extLst>
              <a:ext uri="{FF2B5EF4-FFF2-40B4-BE49-F238E27FC236}">
                <a16:creationId xmlns:a16="http://schemas.microsoft.com/office/drawing/2014/main" id="{51948158-9C97-4517-B0D3-4085249937AC}"/>
              </a:ext>
            </a:extLst>
          </p:cNvPr>
          <p:cNvSpPr>
            <a:spLocks noGrp="1"/>
          </p:cNvSpPr>
          <p:nvPr>
            <p:ph type="body" sz="quarter" idx="18"/>
          </p:nvPr>
        </p:nvSpPr>
        <p:spPr>
          <a:xfrm>
            <a:off x="660054" y="5352052"/>
            <a:ext cx="2359476" cy="350292"/>
          </a:xfrm>
        </p:spPr>
        <p:txBody>
          <a:bodyPr>
            <a:noAutofit/>
          </a:bodyPr>
          <a:lstStyle>
            <a:lvl1pPr marL="3690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a:t>
            </a:r>
          </a:p>
        </p:txBody>
      </p:sp>
      <p:sp>
        <p:nvSpPr>
          <p:cNvPr id="38" name="Text Placeholder 27">
            <a:extLst>
              <a:ext uri="{FF2B5EF4-FFF2-40B4-BE49-F238E27FC236}">
                <a16:creationId xmlns:a16="http://schemas.microsoft.com/office/drawing/2014/main" id="{CA53CE84-6890-4263-ABB8-F39819C6A432}"/>
              </a:ext>
            </a:extLst>
          </p:cNvPr>
          <p:cNvSpPr>
            <a:spLocks noGrp="1"/>
          </p:cNvSpPr>
          <p:nvPr>
            <p:ph type="body" sz="quarter" idx="19"/>
          </p:nvPr>
        </p:nvSpPr>
        <p:spPr>
          <a:xfrm>
            <a:off x="3452764" y="5017734"/>
            <a:ext cx="2359476" cy="350292"/>
          </a:xfrm>
        </p:spPr>
        <p:txBody>
          <a:bodyPr>
            <a:normAutofit/>
          </a:bodyPr>
          <a:lstStyle>
            <a:lvl1pPr marL="3690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a:t>
            </a:r>
          </a:p>
        </p:txBody>
      </p:sp>
      <p:sp>
        <p:nvSpPr>
          <p:cNvPr id="39" name="Text Placeholder 27">
            <a:extLst>
              <a:ext uri="{FF2B5EF4-FFF2-40B4-BE49-F238E27FC236}">
                <a16:creationId xmlns:a16="http://schemas.microsoft.com/office/drawing/2014/main" id="{2C891989-38F5-4F8A-AD02-DBBD0666D172}"/>
              </a:ext>
            </a:extLst>
          </p:cNvPr>
          <p:cNvSpPr>
            <a:spLocks noGrp="1"/>
          </p:cNvSpPr>
          <p:nvPr>
            <p:ph type="body" sz="quarter" idx="20"/>
          </p:nvPr>
        </p:nvSpPr>
        <p:spPr>
          <a:xfrm>
            <a:off x="3452764" y="5352052"/>
            <a:ext cx="2359476" cy="350292"/>
          </a:xfrm>
        </p:spPr>
        <p:txBody>
          <a:bodyPr>
            <a:noAutofit/>
          </a:bodyPr>
          <a:lstStyle>
            <a:lvl1pPr marL="3690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a:t>
            </a:r>
          </a:p>
        </p:txBody>
      </p:sp>
      <p:sp>
        <p:nvSpPr>
          <p:cNvPr id="40" name="Text Placeholder 27">
            <a:extLst>
              <a:ext uri="{FF2B5EF4-FFF2-40B4-BE49-F238E27FC236}">
                <a16:creationId xmlns:a16="http://schemas.microsoft.com/office/drawing/2014/main" id="{470811B1-7881-44B2-88EA-0D7D0EE5CB0B}"/>
              </a:ext>
            </a:extLst>
          </p:cNvPr>
          <p:cNvSpPr>
            <a:spLocks noGrp="1"/>
          </p:cNvSpPr>
          <p:nvPr>
            <p:ph type="body" sz="quarter" idx="21"/>
          </p:nvPr>
        </p:nvSpPr>
        <p:spPr>
          <a:xfrm>
            <a:off x="6245474" y="5017734"/>
            <a:ext cx="2359476" cy="350292"/>
          </a:xfrm>
        </p:spPr>
        <p:txBody>
          <a:bodyPr>
            <a:normAutofit/>
          </a:bodyPr>
          <a:lstStyle>
            <a:lvl1pPr marL="3690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a:t>
            </a:r>
          </a:p>
        </p:txBody>
      </p:sp>
      <p:sp>
        <p:nvSpPr>
          <p:cNvPr id="41" name="Text Placeholder 27">
            <a:extLst>
              <a:ext uri="{FF2B5EF4-FFF2-40B4-BE49-F238E27FC236}">
                <a16:creationId xmlns:a16="http://schemas.microsoft.com/office/drawing/2014/main" id="{42DCE357-186A-457C-951C-49B33EE59FBF}"/>
              </a:ext>
            </a:extLst>
          </p:cNvPr>
          <p:cNvSpPr>
            <a:spLocks noGrp="1"/>
          </p:cNvSpPr>
          <p:nvPr>
            <p:ph type="body" sz="quarter" idx="22"/>
          </p:nvPr>
        </p:nvSpPr>
        <p:spPr>
          <a:xfrm>
            <a:off x="6245474" y="5352052"/>
            <a:ext cx="2359476" cy="350292"/>
          </a:xfrm>
        </p:spPr>
        <p:txBody>
          <a:bodyPr>
            <a:noAutofit/>
          </a:bodyPr>
          <a:lstStyle>
            <a:lvl1pPr marL="3690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a:t>
            </a:r>
          </a:p>
        </p:txBody>
      </p:sp>
      <p:sp>
        <p:nvSpPr>
          <p:cNvPr id="42" name="Text Placeholder 27">
            <a:extLst>
              <a:ext uri="{FF2B5EF4-FFF2-40B4-BE49-F238E27FC236}">
                <a16:creationId xmlns:a16="http://schemas.microsoft.com/office/drawing/2014/main" id="{125640C8-2610-4EE2-B7DB-43B69762CA69}"/>
              </a:ext>
            </a:extLst>
          </p:cNvPr>
          <p:cNvSpPr>
            <a:spLocks noGrp="1"/>
          </p:cNvSpPr>
          <p:nvPr>
            <p:ph type="body" sz="quarter" idx="23"/>
          </p:nvPr>
        </p:nvSpPr>
        <p:spPr>
          <a:xfrm>
            <a:off x="9038184" y="5017734"/>
            <a:ext cx="2359476" cy="350292"/>
          </a:xfrm>
        </p:spPr>
        <p:txBody>
          <a:bodyPr>
            <a:normAutofit/>
          </a:bodyPr>
          <a:lstStyle>
            <a:lvl1pPr marL="3690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a:t>
            </a:r>
          </a:p>
        </p:txBody>
      </p:sp>
      <p:sp>
        <p:nvSpPr>
          <p:cNvPr id="43" name="Text Placeholder 27">
            <a:extLst>
              <a:ext uri="{FF2B5EF4-FFF2-40B4-BE49-F238E27FC236}">
                <a16:creationId xmlns:a16="http://schemas.microsoft.com/office/drawing/2014/main" id="{A681FDE6-437A-4435-B435-9E095137BA70}"/>
              </a:ext>
            </a:extLst>
          </p:cNvPr>
          <p:cNvSpPr>
            <a:spLocks noGrp="1"/>
          </p:cNvSpPr>
          <p:nvPr>
            <p:ph type="body" sz="quarter" idx="24"/>
          </p:nvPr>
        </p:nvSpPr>
        <p:spPr>
          <a:xfrm>
            <a:off x="9038184" y="5352052"/>
            <a:ext cx="2359476" cy="350292"/>
          </a:xfrm>
        </p:spPr>
        <p:txBody>
          <a:bodyPr>
            <a:noAutofit/>
          </a:bodyPr>
          <a:lstStyle>
            <a:lvl1pPr marL="3690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a:t>
            </a:r>
          </a:p>
        </p:txBody>
      </p:sp>
      <p:sp>
        <p:nvSpPr>
          <p:cNvPr id="5" name="Footer Placeholder 4"/>
          <p:cNvSpPr>
            <a:spLocks noGrp="1"/>
          </p:cNvSpPr>
          <p:nvPr>
            <p:ph type="ftr" sz="quarter" idx="11"/>
          </p:nvPr>
        </p:nvSpPr>
        <p:spPr/>
        <p:txBody>
          <a:bodyPr/>
          <a:lstStyle/>
          <a:p>
            <a:r>
              <a:rPr lang="en-US"/>
              <a:t>Sample footer text</a:t>
            </a:r>
          </a:p>
        </p:txBody>
      </p:sp>
      <p:sp>
        <p:nvSpPr>
          <p:cNvPr id="4" name="Date Placeholder 3"/>
          <p:cNvSpPr>
            <a:spLocks noGrp="1"/>
          </p:cNvSpPr>
          <p:nvPr>
            <p:ph type="dt" sz="half" idx="10"/>
          </p:nvPr>
        </p:nvSpPr>
        <p:spPr/>
        <p:txBody>
          <a:bodyPr/>
          <a:lstStyle>
            <a:lvl1pPr>
              <a:defRPr/>
            </a:lvl1pPr>
          </a:lstStyle>
          <a:p>
            <a:r>
              <a:rPr lang="en-US"/>
              <a:t>20XX</a:t>
            </a:r>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888009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comparison slide)">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37B721FF-D609-4D98-9D19-CF75AA8A54FC}"/>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a:extLst>
              <a:ext uri="{FF2B5EF4-FFF2-40B4-BE49-F238E27FC236}">
                <a16:creationId xmlns:a16="http://schemas.microsoft.com/office/drawing/2014/main" id="{073936BD-C868-433F-8E84-D6DD8E640E3E}"/>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Sample footer text</a:t>
            </a:r>
          </a:p>
        </p:txBody>
      </p:sp>
      <p:sp>
        <p:nvSpPr>
          <p:cNvPr id="7" name="Date Placeholder 6"/>
          <p:cNvSpPr>
            <a:spLocks noGrp="1"/>
          </p:cNvSpPr>
          <p:nvPr>
            <p:ph type="dt" sz="half" idx="10"/>
          </p:nvPr>
        </p:nvSpPr>
        <p:spPr/>
        <p:txBody>
          <a:bodyPr/>
          <a:lstStyle>
            <a:lvl1pPr>
              <a:defRPr/>
            </a:lvl1pPr>
          </a:lstStyle>
          <a:p>
            <a:r>
              <a:rPr lang="en-US"/>
              <a:t>20XX</a:t>
            </a:r>
          </a:p>
        </p:txBody>
      </p:sp>
      <p:sp>
        <p:nvSpPr>
          <p:cNvPr id="9" name="Slide Number Placeholder 8"/>
          <p:cNvSpPr>
            <a:spLocks noGrp="1"/>
          </p:cNvSpPr>
          <p:nvPr>
            <p:ph type="sldNum" sz="quarter" idx="12"/>
          </p:nvPr>
        </p:nvSpPr>
        <p:spPr/>
        <p:txBody>
          <a:bodyPr/>
          <a:lstStyle/>
          <a:p>
            <a:fld id="{294A09A9-5501-47C1-A89A-A340965A2BE2}" type="slidenum">
              <a:rPr lang="en-US" smtClean="0"/>
              <a:t>‹#›</a:t>
            </a:fld>
            <a:endParaRPr lang="en-US"/>
          </a:p>
        </p:txBody>
      </p:sp>
      <p:sp>
        <p:nvSpPr>
          <p:cNvPr id="10" name="Title 9">
            <a:extLst>
              <a:ext uri="{FF2B5EF4-FFF2-40B4-BE49-F238E27FC236}">
                <a16:creationId xmlns:a16="http://schemas.microsoft.com/office/drawing/2014/main" id="{E77D232C-20AD-4774-BA15-E69DF3933A8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4268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37B721FF-D609-4D98-9D19-CF75AA8A54FC}"/>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6040" y="1734506"/>
            <a:ext cx="3359592" cy="4099959"/>
          </a:xfrm>
          <a:prstGeom prst="rect">
            <a:avLst/>
          </a:prstGeom>
        </p:spPr>
      </p:pic>
      <p:pic>
        <p:nvPicPr>
          <p:cNvPr id="21" name="Picture 20">
            <a:extLst>
              <a:ext uri="{FF2B5EF4-FFF2-40B4-BE49-F238E27FC236}">
                <a16:creationId xmlns:a16="http://schemas.microsoft.com/office/drawing/2014/main" id="{073936BD-C868-433F-8E84-D6DD8E640E3E}"/>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6204" y="1734506"/>
            <a:ext cx="3359592" cy="4099959"/>
          </a:xfrm>
          <a:prstGeom prst="rect">
            <a:avLst/>
          </a:prstGeom>
        </p:spPr>
      </p:pic>
      <p:sp>
        <p:nvSpPr>
          <p:cNvPr id="3" name="Text Placeholder 2"/>
          <p:cNvSpPr>
            <a:spLocks noGrp="1"/>
          </p:cNvSpPr>
          <p:nvPr>
            <p:ph type="body" idx="1"/>
          </p:nvPr>
        </p:nvSpPr>
        <p:spPr>
          <a:xfrm>
            <a:off x="1001623" y="1855153"/>
            <a:ext cx="318294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1623" y="2702103"/>
            <a:ext cx="318294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499579" y="1855152"/>
            <a:ext cx="3192843"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99579" y="2702103"/>
            <a:ext cx="3192842"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2CB356B5-0EDC-4245-8878-C19DA25A30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951904" y="1734506"/>
            <a:ext cx="3359592" cy="4099959"/>
          </a:xfrm>
          <a:prstGeom prst="rect">
            <a:avLst/>
          </a:prstGeom>
        </p:spPr>
      </p:pic>
      <p:sp>
        <p:nvSpPr>
          <p:cNvPr id="13" name="Text Placeholder 4">
            <a:extLst>
              <a:ext uri="{FF2B5EF4-FFF2-40B4-BE49-F238E27FC236}">
                <a16:creationId xmlns:a16="http://schemas.microsoft.com/office/drawing/2014/main" id="{556C3DD2-AE94-4BA5-920E-A7EEE19296E8}"/>
              </a:ext>
            </a:extLst>
          </p:cNvPr>
          <p:cNvSpPr>
            <a:spLocks noGrp="1"/>
          </p:cNvSpPr>
          <p:nvPr>
            <p:ph type="body" sz="quarter" idx="13"/>
          </p:nvPr>
        </p:nvSpPr>
        <p:spPr>
          <a:xfrm>
            <a:off x="8035279" y="1855152"/>
            <a:ext cx="3192843"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5">
            <a:extLst>
              <a:ext uri="{FF2B5EF4-FFF2-40B4-BE49-F238E27FC236}">
                <a16:creationId xmlns:a16="http://schemas.microsoft.com/office/drawing/2014/main" id="{04BCB055-753B-4006-BF3C-73FC5A3C25D9}"/>
              </a:ext>
            </a:extLst>
          </p:cNvPr>
          <p:cNvSpPr>
            <a:spLocks noGrp="1"/>
          </p:cNvSpPr>
          <p:nvPr>
            <p:ph sz="quarter" idx="14"/>
          </p:nvPr>
        </p:nvSpPr>
        <p:spPr>
          <a:xfrm>
            <a:off x="8035279" y="2702103"/>
            <a:ext cx="3192842"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Sample footer text</a:t>
            </a:r>
          </a:p>
        </p:txBody>
      </p:sp>
      <p:sp>
        <p:nvSpPr>
          <p:cNvPr id="7" name="Date Placeholder 6"/>
          <p:cNvSpPr>
            <a:spLocks noGrp="1"/>
          </p:cNvSpPr>
          <p:nvPr>
            <p:ph type="dt" sz="half" idx="10"/>
          </p:nvPr>
        </p:nvSpPr>
        <p:spPr/>
        <p:txBody>
          <a:bodyPr/>
          <a:lstStyle>
            <a:lvl1pPr>
              <a:defRPr/>
            </a:lvl1pPr>
          </a:lstStyle>
          <a:p>
            <a:r>
              <a:rPr lang="en-US"/>
              <a:t>20XX</a:t>
            </a:r>
          </a:p>
        </p:txBody>
      </p:sp>
      <p:sp>
        <p:nvSpPr>
          <p:cNvPr id="9" name="Slide Number Placeholder 8"/>
          <p:cNvSpPr>
            <a:spLocks noGrp="1"/>
          </p:cNvSpPr>
          <p:nvPr>
            <p:ph type="sldNum" sz="quarter" idx="12"/>
          </p:nvPr>
        </p:nvSpPr>
        <p:spPr/>
        <p:txBody>
          <a:bodyPr/>
          <a:lstStyle/>
          <a:p>
            <a:fld id="{294A09A9-5501-47C1-A89A-A340965A2BE2}" type="slidenum">
              <a:rPr lang="en-US" smtClean="0"/>
              <a:t>‹#›</a:t>
            </a:fld>
            <a:endParaRPr lang="en-US"/>
          </a:p>
        </p:txBody>
      </p:sp>
      <p:sp>
        <p:nvSpPr>
          <p:cNvPr id="10" name="Title 9">
            <a:extLst>
              <a:ext uri="{FF2B5EF4-FFF2-40B4-BE49-F238E27FC236}">
                <a16:creationId xmlns:a16="http://schemas.microsoft.com/office/drawing/2014/main" id="{ECB0F25A-A8E7-41F3-B58E-C52AE9D6DC1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31621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FDB9BCB-0C27-46E1-90C0-AADF00541844}"/>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10649" y="1"/>
            <a:ext cx="4690532" cy="6858000"/>
          </a:xfrm>
          <a:prstGeom prst="rect">
            <a:avLst/>
          </a:prstGeom>
        </p:spPr>
      </p:pic>
      <p:sp>
        <p:nvSpPr>
          <p:cNvPr id="2" name="Title 1"/>
          <p:cNvSpPr>
            <a:spLocks noGrp="1"/>
          </p:cNvSpPr>
          <p:nvPr>
            <p:ph type="title"/>
          </p:nvPr>
        </p:nvSpPr>
        <p:spPr>
          <a:xfrm>
            <a:off x="5369441" y="1233378"/>
            <a:ext cx="5898114" cy="1357422"/>
          </a:xfrm>
        </p:spPr>
        <p:txBody>
          <a:bodyPr anchor="b">
            <a:noAutofit/>
          </a:bodyPr>
          <a:lstStyle>
            <a:lvl1pPr algn="ctr">
              <a:defRPr lang="en-US" sz="4000" kern="1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stStyle>
          <a:p>
            <a:r>
              <a:rPr lang="en-US"/>
              <a:t>Click to edit Master title style</a:t>
            </a:r>
          </a:p>
        </p:txBody>
      </p:sp>
      <p:sp>
        <p:nvSpPr>
          <p:cNvPr id="10" name="Subtitle 2" descr="Tag=AccentColor&#10;Flavor=Light&#10;Target=Text">
            <a:extLst>
              <a:ext uri="{FF2B5EF4-FFF2-40B4-BE49-F238E27FC236}">
                <a16:creationId xmlns:a16="http://schemas.microsoft.com/office/drawing/2014/main" id="{61821B46-FA47-4BEB-A735-3A8E1161FD7A}"/>
              </a:ext>
            </a:extLst>
          </p:cNvPr>
          <p:cNvSpPr>
            <a:spLocks noGrp="1"/>
          </p:cNvSpPr>
          <p:nvPr>
            <p:ph type="subTitle" idx="13"/>
          </p:nvPr>
        </p:nvSpPr>
        <p:spPr>
          <a:xfrm>
            <a:off x="5369440" y="2895601"/>
            <a:ext cx="5898115" cy="2378074"/>
          </a:xfrm>
        </p:spPr>
        <p:txBody>
          <a:bodyPr>
            <a:normAutofit/>
          </a:bodyPr>
          <a:lstStyle>
            <a:lvl1pPr marL="36900" indent="0">
              <a:buNone/>
              <a:defRPr/>
            </a:lvl1pPr>
          </a:lstStyle>
          <a:p>
            <a:endParaRPr lang="en-US"/>
          </a:p>
        </p:txBody>
      </p:sp>
      <p:sp>
        <p:nvSpPr>
          <p:cNvPr id="13" name="Picture Placeholder 12">
            <a:extLst>
              <a:ext uri="{FF2B5EF4-FFF2-40B4-BE49-F238E27FC236}">
                <a16:creationId xmlns:a16="http://schemas.microsoft.com/office/drawing/2014/main" id="{CF220894-C699-4E12-9EB4-2318F23E4AAF}"/>
              </a:ext>
            </a:extLst>
          </p:cNvPr>
          <p:cNvSpPr>
            <a:spLocks noGrp="1"/>
          </p:cNvSpPr>
          <p:nvPr>
            <p:ph type="pic" sz="quarter" idx="14"/>
          </p:nvPr>
        </p:nvSpPr>
        <p:spPr>
          <a:xfrm>
            <a:off x="-11113" y="0"/>
            <a:ext cx="4583113" cy="6858000"/>
          </a:xfrm>
        </p:spPr>
        <p:txBody>
          <a:bodyPr/>
          <a:lstStyle/>
          <a:p>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5" name="Date Placeholder 4"/>
          <p:cNvSpPr>
            <a:spLocks noGrp="1"/>
          </p:cNvSpPr>
          <p:nvPr>
            <p:ph type="dt" sz="half" idx="10"/>
          </p:nvPr>
        </p:nvSpPr>
        <p:spPr/>
        <p:txBody>
          <a:bodyPr/>
          <a:lstStyle>
            <a:lvl1pPr>
              <a:defRPr/>
            </a:lvl1pPr>
          </a:lstStyle>
          <a:p>
            <a:r>
              <a:rPr lang="en-US"/>
              <a:t>20XX</a:t>
            </a:r>
          </a:p>
        </p:txBody>
      </p:sp>
      <p:sp>
        <p:nvSpPr>
          <p:cNvPr id="7" name="Slide Number Placeholder 6"/>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1679034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8958888C-33C4-45BB-9053-0F238EBC2503}"/>
              </a:ext>
            </a:extLst>
          </p:cNvPr>
          <p:cNvSpPr>
            <a:spLocks noGrp="1"/>
          </p:cNvSpPr>
          <p:nvPr>
            <p:ph type="pic" sz="quarter" idx="13"/>
          </p:nvPr>
        </p:nvSpPr>
        <p:spPr>
          <a:xfrm>
            <a:off x="0" y="0"/>
            <a:ext cx="12192000" cy="6858000"/>
          </a:xfrm>
        </p:spPr>
        <p:txBody>
          <a:bodyPr/>
          <a:lstStyle/>
          <a:p>
            <a:endParaRPr lang="en-US"/>
          </a:p>
        </p:txBody>
      </p:sp>
      <p:sp useBgFill="1">
        <p:nvSpPr>
          <p:cNvPr id="2" name="Title 1"/>
          <p:cNvSpPr>
            <a:spLocks noGrp="1"/>
          </p:cNvSpPr>
          <p:nvPr>
            <p:ph type="ctrTitle"/>
          </p:nvPr>
        </p:nvSpPr>
        <p:spPr>
          <a:xfrm>
            <a:off x="1146676" y="1572884"/>
            <a:ext cx="4100417" cy="2585050"/>
          </a:xfrm>
        </p:spPr>
        <p:txBody>
          <a:bodyPr lIns="274320" anchor="ctr">
            <a:normAutofit/>
          </a:bodyPr>
          <a:lstStyle>
            <a:lvl1pPr algn="l">
              <a:defRPr lang="en-US" sz="4000" kern="1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stStyle>
          <a:p>
            <a:r>
              <a:rPr lang="en-US"/>
              <a:t>Click to edit</a:t>
            </a:r>
          </a:p>
        </p:txBody>
      </p:sp>
      <p:sp useBgFill="1">
        <p:nvSpPr>
          <p:cNvPr id="3" name="Subtitle 2"/>
          <p:cNvSpPr>
            <a:spLocks noGrp="1"/>
          </p:cNvSpPr>
          <p:nvPr>
            <p:ph type="subTitle" idx="1"/>
          </p:nvPr>
        </p:nvSpPr>
        <p:spPr>
          <a:xfrm>
            <a:off x="1146675" y="4157934"/>
            <a:ext cx="4100418" cy="1446364"/>
          </a:xfrm>
        </p:spPr>
        <p:txBody>
          <a:bodyPr lIns="274320" anchor="t">
            <a:normAutofit/>
          </a:bodyPr>
          <a:lstStyle>
            <a:lvl1pPr marL="342900" indent="-306000" algn="l" defTabSz="457200" rtl="0" eaLnBrk="1" latinLnBrk="0" hangingPunct="1">
              <a:lnSpc>
                <a:spcPct val="80000"/>
              </a:lnSpc>
              <a:spcBef>
                <a:spcPct val="20000"/>
              </a:spcBef>
              <a:spcAft>
                <a:spcPts val="600"/>
              </a:spcAft>
              <a:buClr>
                <a:schemeClr val="tx2"/>
              </a:buClr>
              <a:buSzPct val="70000"/>
              <a:buFont typeface="Wingdings 2" charset="2"/>
              <a:buChar char=""/>
              <a:defRPr lang="en-US" sz="1600" kern="1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11"/>
          </p:nvPr>
        </p:nvSpPr>
        <p:spPr/>
        <p:txBody>
          <a:bodyPr/>
          <a:lstStyle/>
          <a:p>
            <a:r>
              <a:rPr lang="en-US"/>
              <a:t>Sample footer text</a:t>
            </a:r>
          </a:p>
        </p:txBody>
      </p:sp>
      <p:sp>
        <p:nvSpPr>
          <p:cNvPr id="4" name="Date Placeholder 3"/>
          <p:cNvSpPr>
            <a:spLocks noGrp="1"/>
          </p:cNvSpPr>
          <p:nvPr>
            <p:ph type="dt" sz="half" idx="10"/>
          </p:nvPr>
        </p:nvSpPr>
        <p:spPr/>
        <p:txBody>
          <a:bodyPr/>
          <a:lstStyle>
            <a:lvl1pPr>
              <a:defRPr/>
            </a:lvl1pPr>
          </a:lstStyle>
          <a:p>
            <a:r>
              <a:rPr lang="en-US"/>
              <a:t>20XX</a:t>
            </a:r>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2864259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r>
              <a:rPr lang="en-US"/>
              <a:t>20XX</a:t>
            </a:r>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r>
              <a:rPr lang="en-US"/>
              <a:t>Sample footer text</a:t>
            </a:r>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294A09A9-5501-47C1-A89A-A340965A2BE2}" type="slidenum">
              <a:rPr lang="en-US" smtClean="0"/>
              <a:t>‹#›</a:t>
            </a:fld>
            <a:endParaRPr lang="en-US"/>
          </a:p>
        </p:txBody>
      </p:sp>
    </p:spTree>
    <p:extLst>
      <p:ext uri="{BB962C8B-B14F-4D97-AF65-F5344CB8AC3E}">
        <p14:creationId xmlns:p14="http://schemas.microsoft.com/office/powerpoint/2010/main" val="4170521828"/>
      </p:ext>
    </p:extLst>
  </p:cSld>
  <p:clrMap bg1="dk1" tx1="lt1" bg2="dk2" tx2="lt2" accent1="accent1" accent2="accent2" accent3="accent3" accent4="accent4" accent5="accent5" accent6="accent6" hlink="hlink" folHlink="folHlink"/>
  <p:sldLayoutIdLst>
    <p:sldLayoutId id="2147483682" r:id="rId1"/>
    <p:sldLayoutId id="2147483681" r:id="rId2"/>
    <p:sldLayoutId id="2147483679" r:id="rId3"/>
    <p:sldLayoutId id="2147483664" r:id="rId4"/>
    <p:sldLayoutId id="2147483660" r:id="rId5"/>
    <p:sldLayoutId id="2147483677" r:id="rId6"/>
    <p:sldLayoutId id="2147483678" r:id="rId7"/>
    <p:sldLayoutId id="2147483663" r:id="rId8"/>
    <p:sldLayoutId id="2147483676" r:id="rId9"/>
    <p:sldLayoutId id="2147483680" r:id="rId10"/>
    <p:sldLayoutId id="2147483659" r:id="rId11"/>
  </p:sldLayoutIdLst>
  <p:hf hdr="0" dt="0"/>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hyperlink" Target="mailto:molatlhegipolitemasego@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Placeholder 21" descr="A picture containing wall, wooden, indoor, table">
            <a:extLst>
              <a:ext uri="{FF2B5EF4-FFF2-40B4-BE49-F238E27FC236}">
                <a16:creationId xmlns:a16="http://schemas.microsoft.com/office/drawing/2014/main" id="{E2888B94-BE50-4E48-8F75-1E8AAD5AFA95}"/>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0" y="0"/>
            <a:ext cx="12192000" cy="6858000"/>
          </a:xfrm>
        </p:spPr>
      </p:pic>
      <p:sp useBgFill="1">
        <p:nvSpPr>
          <p:cNvPr id="18" name="Title 17">
            <a:extLst>
              <a:ext uri="{FF2B5EF4-FFF2-40B4-BE49-F238E27FC236}">
                <a16:creationId xmlns:a16="http://schemas.microsoft.com/office/drawing/2014/main" id="{7F1C1DC8-8566-416D-A699-06A29F45B578}"/>
              </a:ext>
            </a:extLst>
          </p:cNvPr>
          <p:cNvSpPr>
            <a:spLocks noGrp="1"/>
          </p:cNvSpPr>
          <p:nvPr>
            <p:ph type="ctrTitle"/>
          </p:nvPr>
        </p:nvSpPr>
        <p:spPr>
          <a:xfrm>
            <a:off x="2263430" y="1762887"/>
            <a:ext cx="7665140" cy="2140251"/>
          </a:xfrm>
        </p:spPr>
        <p:txBody>
          <a:bodyPr vert="horz" lIns="91440" tIns="365760" rIns="91440" bIns="45720" rtlCol="0" anchor="ctr">
            <a:noAutofit/>
          </a:bodyPr>
          <a:lstStyle/>
          <a:p>
            <a:r>
              <a:rPr lang="en-US" sz="2800">
                <a:latin typeface="Times New Roman"/>
                <a:cs typeface="Times New Roman"/>
              </a:rPr>
              <a:t>BRIGHT COFFEE: 6 MONTHS SALES OVERVIEW</a:t>
            </a:r>
            <a:endParaRPr lang="en-US" sz="28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endParaRPr>
          </a:p>
        </p:txBody>
      </p:sp>
      <p:sp useBgFill="1">
        <p:nvSpPr>
          <p:cNvPr id="19" name="Subtitle 18">
            <a:extLst>
              <a:ext uri="{FF2B5EF4-FFF2-40B4-BE49-F238E27FC236}">
                <a16:creationId xmlns:a16="http://schemas.microsoft.com/office/drawing/2014/main" id="{B032DA7C-C3AD-4A99-8801-152FB4EE9B9E}"/>
              </a:ext>
            </a:extLst>
          </p:cNvPr>
          <p:cNvSpPr>
            <a:spLocks noGrp="1"/>
          </p:cNvSpPr>
          <p:nvPr>
            <p:ph type="subTitle" idx="1"/>
          </p:nvPr>
        </p:nvSpPr>
        <p:spPr>
          <a:xfrm>
            <a:off x="2263430" y="3903138"/>
            <a:ext cx="7665139" cy="1191977"/>
          </a:xfrm>
        </p:spPr>
        <p:txBody>
          <a:bodyPr>
            <a:normAutofit lnSpcReduction="10000"/>
          </a:bodyPr>
          <a:lstStyle/>
          <a:p>
            <a:r>
              <a:rPr lang="en-US">
                <a:ln>
                  <a:solidFill>
                    <a:prstClr val="black">
                      <a:lumMod val="75000"/>
                      <a:lumOff val="25000"/>
                      <a:alpha val="10000"/>
                    </a:prstClr>
                  </a:solidFill>
                </a:ln>
                <a:effectLst>
                  <a:outerShdw blurRad="9525" dist="25400" dir="14640000" algn="tl" rotWithShape="0">
                    <a:prstClr val="black">
                      <a:alpha val="30000"/>
                    </a:prstClr>
                  </a:outerShdw>
                </a:effectLst>
              </a:rPr>
              <a:t>BY: POLITE MASEGO MOLATLHEGI</a:t>
            </a:r>
          </a:p>
          <a:p>
            <a:r>
              <a:rPr lang="en-US">
                <a:ln>
                  <a:solidFill>
                    <a:prstClr val="black">
                      <a:lumMod val="75000"/>
                      <a:lumOff val="25000"/>
                      <a:alpha val="10000"/>
                    </a:prstClr>
                  </a:solidFill>
                </a:ln>
                <a:effectLst>
                  <a:outerShdw blurRad="9525" dist="25400" dir="14640000" algn="tl" rotWithShape="0">
                    <a:prstClr val="black">
                      <a:alpha val="30000"/>
                    </a:prstClr>
                  </a:outerShdw>
                </a:effectLst>
              </a:rPr>
              <a:t>BrightLearn</a:t>
            </a:r>
          </a:p>
          <a:p>
            <a:r>
              <a:rPr lang="en-US">
                <a:ln>
                  <a:solidFill>
                    <a:prstClr val="black">
                      <a:lumMod val="75000"/>
                      <a:lumOff val="25000"/>
                      <a:alpha val="10000"/>
                    </a:prstClr>
                  </a:solidFill>
                </a:ln>
                <a:effectLst>
                  <a:outerShdw blurRad="9525" dist="25400" dir="14640000" algn="tl" rotWithShape="0">
                    <a:prstClr val="black">
                      <a:alpha val="30000"/>
                    </a:prstClr>
                  </a:outerShdw>
                </a:effectLst>
              </a:rPr>
              <a:t>31/3/2026</a:t>
            </a:r>
          </a:p>
        </p:txBody>
      </p:sp>
    </p:spTree>
    <p:extLst>
      <p:ext uri="{BB962C8B-B14F-4D97-AF65-F5344CB8AC3E}">
        <p14:creationId xmlns:p14="http://schemas.microsoft.com/office/powerpoint/2010/main" val="3196402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itle 69">
            <a:extLst>
              <a:ext uri="{FF2B5EF4-FFF2-40B4-BE49-F238E27FC236}">
                <a16:creationId xmlns:a16="http://schemas.microsoft.com/office/drawing/2014/main" id="{AD0FAE4B-37EE-4B93-881F-3DB9A2B03F5C}"/>
              </a:ext>
            </a:extLst>
          </p:cNvPr>
          <p:cNvSpPr>
            <a:spLocks noGrp="1"/>
          </p:cNvSpPr>
          <p:nvPr>
            <p:ph type="title"/>
          </p:nvPr>
        </p:nvSpPr>
        <p:spPr>
          <a:xfrm>
            <a:off x="8050975" y="264538"/>
            <a:ext cx="3619500" cy="1510474"/>
          </a:xfrm>
        </p:spPr>
        <p:txBody>
          <a:bodyPr/>
          <a:lstStyle/>
          <a:p>
            <a:pPr algn="just"/>
            <a:r>
              <a:rPr lang="en-GB" sz="28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rPr>
              <a:t>OBJECTIVE</a:t>
            </a:r>
            <a:endParaRPr lang="en-US" sz="28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endParaRPr>
          </a:p>
        </p:txBody>
      </p:sp>
      <p:pic>
        <p:nvPicPr>
          <p:cNvPr id="41" name="Picture Placeholder 40" descr="A picture containing open sign in a window">
            <a:extLst>
              <a:ext uri="{FF2B5EF4-FFF2-40B4-BE49-F238E27FC236}">
                <a16:creationId xmlns:a16="http://schemas.microsoft.com/office/drawing/2014/main" id="{AA02CD6D-6B8C-4E5D-ADA1-EDE5CF5541B6}"/>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4740" y="0"/>
            <a:ext cx="3754712" cy="2675444"/>
          </a:xfrm>
        </p:spPr>
      </p:pic>
      <p:pic>
        <p:nvPicPr>
          <p:cNvPr id="45" name="Picture Placeholder 44" descr="A picture containing tableware">
            <a:extLst>
              <a:ext uri="{FF2B5EF4-FFF2-40B4-BE49-F238E27FC236}">
                <a16:creationId xmlns:a16="http://schemas.microsoft.com/office/drawing/2014/main" id="{1A565340-6612-43BB-8B80-C72700DD933C}"/>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val="0"/>
              </a:ext>
            </a:extLst>
          </a:blip>
          <a:srcRect/>
          <a:stretch/>
        </p:blipFill>
        <p:spPr>
          <a:xfrm>
            <a:off x="3749972" y="0"/>
            <a:ext cx="3793815" cy="2675444"/>
          </a:xfrm>
        </p:spPr>
      </p:pic>
      <p:pic>
        <p:nvPicPr>
          <p:cNvPr id="49" name="Picture Placeholder 48" descr="A picture containing person, table, wooden, meal">
            <a:extLst>
              <a:ext uri="{FF2B5EF4-FFF2-40B4-BE49-F238E27FC236}">
                <a16:creationId xmlns:a16="http://schemas.microsoft.com/office/drawing/2014/main" id="{0D8BC8F5-4101-493D-9289-8D175DE9D79C}"/>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val="0"/>
              </a:ext>
            </a:extLst>
          </a:blip>
          <a:srcRect/>
          <a:stretch/>
        </p:blipFill>
        <p:spPr>
          <a:xfrm>
            <a:off x="-4740" y="2675444"/>
            <a:ext cx="7543904" cy="4182556"/>
          </a:xfrm>
        </p:spPr>
      </p:pic>
      <p:sp>
        <p:nvSpPr>
          <p:cNvPr id="8" name="Footer Placeholder 4">
            <a:extLst>
              <a:ext uri="{FF2B5EF4-FFF2-40B4-BE49-F238E27FC236}">
                <a16:creationId xmlns:a16="http://schemas.microsoft.com/office/drawing/2014/main" id="{96E3B60D-8F61-4010-B5A2-75CCE0009387}"/>
              </a:ext>
            </a:extLst>
          </p:cNvPr>
          <p:cNvSpPr>
            <a:spLocks noGrp="1"/>
          </p:cNvSpPr>
          <p:nvPr>
            <p:ph type="ftr" sz="quarter" idx="11"/>
          </p:nvPr>
        </p:nvSpPr>
        <p:spPr>
          <a:xfrm>
            <a:off x="913795" y="6000749"/>
            <a:ext cx="6672865" cy="365125"/>
          </a:xfrm>
        </p:spPr>
        <p:txBody>
          <a:bodyPr/>
          <a:lstStyle/>
          <a:p>
            <a:r>
              <a:rPr lang="en-US"/>
              <a:t>Sample footer text</a:t>
            </a:r>
          </a:p>
        </p:txBody>
      </p:sp>
      <p:sp>
        <p:nvSpPr>
          <p:cNvPr id="27" name="Text Placeholder 26">
            <a:extLst>
              <a:ext uri="{FF2B5EF4-FFF2-40B4-BE49-F238E27FC236}">
                <a16:creationId xmlns:a16="http://schemas.microsoft.com/office/drawing/2014/main" id="{8777AD14-B633-4803-B2EF-CF2A208D1E2A}"/>
              </a:ext>
            </a:extLst>
          </p:cNvPr>
          <p:cNvSpPr>
            <a:spLocks noGrp="1"/>
          </p:cNvSpPr>
          <p:nvPr>
            <p:ph type="body" sz="quarter" idx="17"/>
          </p:nvPr>
        </p:nvSpPr>
        <p:spPr>
          <a:xfrm>
            <a:off x="8050975" y="2390950"/>
            <a:ext cx="3619500" cy="3724605"/>
          </a:xfrm>
        </p:spPr>
        <p:txBody>
          <a:bodyPr vert="horz" lIns="91440" tIns="45720" rIns="91440" bIns="45720" rtlCol="0" anchor="t">
            <a:noAutofit/>
          </a:bodyPr>
          <a:lstStyle/>
          <a:p>
            <a:pPr indent="-305435" algn="just">
              <a:buFont typeface="Arial" charset="2"/>
              <a:buChar char="•"/>
            </a:pPr>
            <a:r>
              <a:rPr lang="en-GB" sz="1600" dirty="0"/>
              <a:t>Analyse store, product, and customer performance over 6 months
Identify revenue drivers and underperforming areas
Provide actionable, impact-driven recommendations</a:t>
            </a:r>
            <a:endParaRPr lang="en-US" sz="2800" dirty="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endParaRPr>
          </a:p>
        </p:txBody>
      </p:sp>
      <p:sp>
        <p:nvSpPr>
          <p:cNvPr id="9" name="Slide Number Placeholder 5">
            <a:extLst>
              <a:ext uri="{FF2B5EF4-FFF2-40B4-BE49-F238E27FC236}">
                <a16:creationId xmlns:a16="http://schemas.microsoft.com/office/drawing/2014/main" id="{3B346791-1682-49BA-8758-84E6A10FB23F}"/>
              </a:ext>
            </a:extLst>
          </p:cNvPr>
          <p:cNvSpPr>
            <a:spLocks noGrp="1"/>
          </p:cNvSpPr>
          <p:nvPr>
            <p:ph type="sldNum" sz="quarter" idx="12"/>
          </p:nvPr>
        </p:nvSpPr>
        <p:spPr>
          <a:xfrm>
            <a:off x="10514011" y="6000749"/>
            <a:ext cx="753545" cy="365125"/>
          </a:xfrm>
        </p:spPr>
        <p:txBody>
          <a:bodyPr/>
          <a:lstStyle/>
          <a:p>
            <a:fld id="{3A98EE3D-8CD1-4C3F-BD1C-C98C9596463C}" type="slidenum">
              <a:rPr lang="en-US" smtClean="0"/>
              <a:pPr/>
              <a:t>2</a:t>
            </a:fld>
            <a:endParaRPr lang="en-US"/>
          </a:p>
        </p:txBody>
      </p:sp>
    </p:spTree>
    <p:extLst>
      <p:ext uri="{BB962C8B-B14F-4D97-AF65-F5344CB8AC3E}">
        <p14:creationId xmlns:p14="http://schemas.microsoft.com/office/powerpoint/2010/main" val="2558899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B1E39-4EB5-3461-55EB-7E879DB46D3D}"/>
              </a:ext>
            </a:extLst>
          </p:cNvPr>
          <p:cNvSpPr>
            <a:spLocks noGrp="1"/>
          </p:cNvSpPr>
          <p:nvPr>
            <p:ph type="ctrTitle"/>
          </p:nvPr>
        </p:nvSpPr>
        <p:spPr>
          <a:xfrm>
            <a:off x="913335" y="1233378"/>
            <a:ext cx="5697102" cy="728034"/>
          </a:xfrm>
        </p:spPr>
        <p:txBody>
          <a:bodyPr/>
          <a:lstStyle/>
          <a:p>
            <a:r>
              <a:rPr lang="en-US" sz="25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rPr>
              <a:t>REVENUE BY PRODUCT</a:t>
            </a:r>
            <a:endParaRPr lang="en-US"/>
          </a:p>
        </p:txBody>
      </p:sp>
      <p:sp>
        <p:nvSpPr>
          <p:cNvPr id="3" name="Subtitle 2">
            <a:extLst>
              <a:ext uri="{FF2B5EF4-FFF2-40B4-BE49-F238E27FC236}">
                <a16:creationId xmlns:a16="http://schemas.microsoft.com/office/drawing/2014/main" id="{DECC6E98-6D85-D354-5FDD-CF3034F4A079}"/>
              </a:ext>
            </a:extLst>
          </p:cNvPr>
          <p:cNvSpPr>
            <a:spLocks noGrp="1"/>
          </p:cNvSpPr>
          <p:nvPr>
            <p:ph type="subTitle" idx="1"/>
          </p:nvPr>
        </p:nvSpPr>
        <p:spPr>
          <a:xfrm>
            <a:off x="913795" y="2423726"/>
            <a:ext cx="5686437" cy="2849948"/>
          </a:xfrm>
        </p:spPr>
        <p:txBody>
          <a:bodyPr/>
          <a:lstStyle/>
          <a:p>
            <a:pPr algn="just"/>
            <a:r>
              <a:rPr lang="en-US" sz="24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rPr>
              <a:t>ANALYSIS</a:t>
            </a:r>
            <a:endParaRPr lang="en-US" sz="2400">
              <a:ln>
                <a:solidFill>
                  <a:prstClr val="black">
                    <a:lumMod val="75000"/>
                    <a:lumOff val="25000"/>
                    <a:alpha val="10000"/>
                  </a:prstClr>
                </a:solidFill>
              </a:ln>
              <a:solidFill>
                <a:srgbClr val="FFFFFF"/>
              </a:solidFill>
              <a:effectLst>
                <a:outerShdw blurRad="9525" dist="25400" dir="14640000" algn="tl" rotWithShape="0">
                  <a:prstClr val="black">
                    <a:alpha val="30000"/>
                  </a:prstClr>
                </a:outerShdw>
              </a:effectLst>
              <a:latin typeface="Times New Roman"/>
              <a:cs typeface="Times New Roman"/>
            </a:endParaRPr>
          </a:p>
          <a:p>
            <a:pPr marL="342900" indent="-342900" algn="just">
              <a:buFont typeface="Arial,Sans-Serif"/>
              <a:buChar char="•"/>
            </a:pPr>
            <a:r>
              <a:rPr lang="en-US" sz="24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rPr>
              <a:t>Coffee dominate revenue (39% of total)</a:t>
            </a:r>
            <a:endParaRPr lang="en-US" sz="2400">
              <a:ln>
                <a:solidFill>
                  <a:prstClr val="black">
                    <a:lumMod val="75000"/>
                    <a:lumOff val="25000"/>
                    <a:alpha val="10000"/>
                  </a:prstClr>
                </a:solidFill>
              </a:ln>
              <a:solidFill>
                <a:srgbClr val="FFFFFF"/>
              </a:solidFill>
              <a:effectLst>
                <a:outerShdw blurRad="9525" dist="25400" dir="14640000" algn="tl" rotWithShape="0">
                  <a:prstClr val="black">
                    <a:alpha val="30000"/>
                  </a:prstClr>
                </a:outerShdw>
              </a:effectLst>
              <a:latin typeface="Times New Roman"/>
              <a:cs typeface="Times New Roman"/>
            </a:endParaRPr>
          </a:p>
          <a:p>
            <a:pPr marL="342900" indent="-342900" algn="just">
              <a:buFont typeface="Arial,Sans-Serif"/>
              <a:buChar char="•"/>
            </a:pPr>
            <a:r>
              <a:rPr lang="en-US" sz="24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rPr>
              <a:t>Flavors and packaged chocolate contribute extraordinarily little (1%)</a:t>
            </a:r>
            <a:endParaRPr lang="en-GB"/>
          </a:p>
        </p:txBody>
      </p:sp>
      <p:sp>
        <p:nvSpPr>
          <p:cNvPr id="5" name="Footer Placeholder 4">
            <a:extLst>
              <a:ext uri="{FF2B5EF4-FFF2-40B4-BE49-F238E27FC236}">
                <a16:creationId xmlns:a16="http://schemas.microsoft.com/office/drawing/2014/main" id="{1D0F1F98-2B0F-E590-3FE8-BD9B1E57F9FB}"/>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149D3E9E-76F1-9D22-0059-8651C94A4B32}"/>
              </a:ext>
            </a:extLst>
          </p:cNvPr>
          <p:cNvSpPr>
            <a:spLocks noGrp="1"/>
          </p:cNvSpPr>
          <p:nvPr>
            <p:ph type="pic" sz="quarter" idx="13"/>
          </p:nvPr>
        </p:nvSpPr>
        <p:spPr/>
        <p:txBody>
          <a:bodyPr/>
          <a:lstStyle/>
          <a:p>
            <a:endParaRPr lang="en-US"/>
          </a:p>
        </p:txBody>
      </p:sp>
      <p:sp>
        <p:nvSpPr>
          <p:cNvPr id="6" name="Slide Number Placeholder 5">
            <a:extLst>
              <a:ext uri="{FF2B5EF4-FFF2-40B4-BE49-F238E27FC236}">
                <a16:creationId xmlns:a16="http://schemas.microsoft.com/office/drawing/2014/main" id="{129D21FB-80F1-FE75-66DE-CC15B6DD5D2A}"/>
              </a:ext>
            </a:extLst>
          </p:cNvPr>
          <p:cNvSpPr>
            <a:spLocks noGrp="1"/>
          </p:cNvSpPr>
          <p:nvPr>
            <p:ph type="sldNum" sz="quarter" idx="12"/>
          </p:nvPr>
        </p:nvSpPr>
        <p:spPr/>
        <p:txBody>
          <a:bodyPr/>
          <a:lstStyle/>
          <a:p>
            <a:fld id="{294A09A9-5501-47C1-A89A-A340965A2BE2}" type="slidenum">
              <a:rPr lang="en-US" smtClean="0"/>
              <a:t>3</a:t>
            </a:fld>
            <a:endParaRPr lang="en-US"/>
          </a:p>
        </p:txBody>
      </p:sp>
      <p:pic>
        <p:nvPicPr>
          <p:cNvPr id="12" name="Picture 11" descr="A pie chart with numbers and text&#10;&#10;AI-generated content may be incorrect.">
            <a:extLst>
              <a:ext uri="{FF2B5EF4-FFF2-40B4-BE49-F238E27FC236}">
                <a16:creationId xmlns:a16="http://schemas.microsoft.com/office/drawing/2014/main" id="{65F9297A-AAF0-3929-7CCF-4543851EA5D8}"/>
              </a:ext>
            </a:extLst>
          </p:cNvPr>
          <p:cNvPicPr>
            <a:picLocks noChangeAspect="1"/>
          </p:cNvPicPr>
          <p:nvPr/>
        </p:nvPicPr>
        <p:blipFill>
          <a:blip r:embed="rId2"/>
          <a:stretch>
            <a:fillRect/>
          </a:stretch>
        </p:blipFill>
        <p:spPr>
          <a:xfrm>
            <a:off x="7236503" y="1237161"/>
            <a:ext cx="4961215" cy="3362885"/>
          </a:xfrm>
          <a:prstGeom prst="rect">
            <a:avLst/>
          </a:prstGeom>
        </p:spPr>
      </p:pic>
    </p:spTree>
    <p:extLst>
      <p:ext uri="{BB962C8B-B14F-4D97-AF65-F5344CB8AC3E}">
        <p14:creationId xmlns:p14="http://schemas.microsoft.com/office/powerpoint/2010/main" val="1557185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8183C-40CA-8EDF-3B65-AFEBD2881D3E}"/>
              </a:ext>
            </a:extLst>
          </p:cNvPr>
          <p:cNvSpPr>
            <a:spLocks noGrp="1"/>
          </p:cNvSpPr>
          <p:nvPr>
            <p:ph type="ctrTitle"/>
          </p:nvPr>
        </p:nvSpPr>
        <p:spPr>
          <a:xfrm>
            <a:off x="913795" y="609600"/>
            <a:ext cx="10353762" cy="1257300"/>
          </a:xfrm>
        </p:spPr>
        <p:txBody>
          <a:bodyPr vert="horz" lIns="91440" tIns="45720" rIns="91440" bIns="45720" rtlCol="0" anchor="ctr">
            <a:normAutofit/>
          </a:bodyPr>
          <a:lstStyle/>
          <a:p>
            <a:r>
              <a:rPr lang="en-US" sz="2800">
                <a:latin typeface="Times New Roman"/>
                <a:cs typeface="Times New Roman"/>
              </a:rPr>
              <a:t>REVENUE BY STORE</a:t>
            </a:r>
            <a:endParaRPr lang="en-US" sz="28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endParaRPr>
          </a:p>
        </p:txBody>
      </p:sp>
      <p:sp>
        <p:nvSpPr>
          <p:cNvPr id="5" name="Footer Placeholder 4">
            <a:extLst>
              <a:ext uri="{FF2B5EF4-FFF2-40B4-BE49-F238E27FC236}">
                <a16:creationId xmlns:a16="http://schemas.microsoft.com/office/drawing/2014/main" id="{86B7357F-2989-AFE9-DD77-A868088A8387}"/>
              </a:ext>
            </a:extLst>
          </p:cNvPr>
          <p:cNvSpPr>
            <a:spLocks noGrp="1"/>
          </p:cNvSpPr>
          <p:nvPr>
            <p:ph type="ftr" sz="quarter" idx="11"/>
          </p:nvPr>
        </p:nvSpPr>
        <p:spPr>
          <a:xfrm>
            <a:off x="913795" y="6000749"/>
            <a:ext cx="6672865" cy="365125"/>
          </a:xfrm>
        </p:spPr>
        <p:txBody>
          <a:bodyPr vert="horz" lIns="91440" tIns="45720" rIns="91440" bIns="45720" rtlCol="0" anchor="ctr">
            <a:normAutofit/>
          </a:bodyPr>
          <a:lstStyle/>
          <a:p>
            <a:pPr>
              <a:spcAft>
                <a:spcPts val="600"/>
              </a:spcAft>
            </a:pPr>
            <a:r>
              <a:rPr lang="en-US" kern="1200">
                <a:solidFill>
                  <a:schemeClr val="tx1">
                    <a:lumMod val="95000"/>
                  </a:schemeClr>
                </a:solidFill>
                <a:effectLst>
                  <a:outerShdw blurRad="50800" dist="38100" dir="2700000" algn="tl" rotWithShape="0">
                    <a:schemeClr val="bg1">
                      <a:alpha val="43000"/>
                    </a:schemeClr>
                  </a:outerShdw>
                </a:effectLst>
                <a:latin typeface="+mn-lt"/>
                <a:ea typeface="+mn-ea"/>
                <a:cs typeface="+mn-cs"/>
              </a:rPr>
              <a:t>Sample footer text</a:t>
            </a:r>
          </a:p>
        </p:txBody>
      </p:sp>
      <p:sp>
        <p:nvSpPr>
          <p:cNvPr id="6" name="Slide Number Placeholder 5">
            <a:extLst>
              <a:ext uri="{FF2B5EF4-FFF2-40B4-BE49-F238E27FC236}">
                <a16:creationId xmlns:a16="http://schemas.microsoft.com/office/drawing/2014/main" id="{A97454C0-6519-7BDA-EAA4-5EDCD6605DB0}"/>
              </a:ext>
            </a:extLst>
          </p:cNvPr>
          <p:cNvSpPr>
            <a:spLocks noGrp="1"/>
          </p:cNvSpPr>
          <p:nvPr>
            <p:ph type="sldNum" sz="quarter" idx="12"/>
          </p:nvPr>
        </p:nvSpPr>
        <p:spPr>
          <a:xfrm>
            <a:off x="10514011" y="6000749"/>
            <a:ext cx="753545" cy="365125"/>
          </a:xfrm>
        </p:spPr>
        <p:txBody>
          <a:bodyPr vert="horz" lIns="91440" tIns="45720" rIns="91440" bIns="45720" rtlCol="0" anchor="ctr">
            <a:normAutofit/>
          </a:bodyPr>
          <a:lstStyle/>
          <a:p>
            <a:pPr>
              <a:spcAft>
                <a:spcPts val="600"/>
              </a:spcAft>
            </a:pPr>
            <a:fld id="{294A09A9-5501-47C1-A89A-A340965A2BE2}" type="slidenum">
              <a:rPr lang="en-US" smtClean="0"/>
              <a:pPr>
                <a:spcAft>
                  <a:spcPts val="600"/>
                </a:spcAft>
              </a:pPr>
              <a:t>4</a:t>
            </a:fld>
            <a:endParaRPr lang="en-US"/>
          </a:p>
        </p:txBody>
      </p:sp>
      <p:sp>
        <p:nvSpPr>
          <p:cNvPr id="3" name="Subtitle 2">
            <a:extLst>
              <a:ext uri="{FF2B5EF4-FFF2-40B4-BE49-F238E27FC236}">
                <a16:creationId xmlns:a16="http://schemas.microsoft.com/office/drawing/2014/main" id="{62846C37-CC69-366D-CA75-732370A74EDD}"/>
              </a:ext>
            </a:extLst>
          </p:cNvPr>
          <p:cNvSpPr>
            <a:spLocks noGrp="1"/>
          </p:cNvSpPr>
          <p:nvPr>
            <p:ph type="subTitle" idx="1"/>
          </p:nvPr>
        </p:nvSpPr>
        <p:spPr>
          <a:xfrm>
            <a:off x="913795" y="2096509"/>
            <a:ext cx="5700814" cy="4097315"/>
          </a:xfrm>
        </p:spPr>
        <p:txBody>
          <a:bodyPr/>
          <a:lstStyle/>
          <a:p>
            <a:pPr algn="just"/>
            <a:r>
              <a:rPr lang="en-GB" sz="24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rPr>
              <a:t>ANALYSIS</a:t>
            </a:r>
            <a:endParaRPr lang="en-US" sz="24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endParaRPr>
          </a:p>
          <a:p>
            <a:pPr marL="342900" indent="-342900" algn="just">
              <a:buFont typeface="Arial" charset="2"/>
              <a:buChar char="•"/>
            </a:pPr>
            <a:r>
              <a:rPr lang="en-GB" sz="24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rPr>
              <a:t>Hell's Kitchen contributes 34% of total revenue</a:t>
            </a:r>
            <a:endParaRPr lang="en-GB" sz="2400" dirty="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endParaRPr>
          </a:p>
          <a:p>
            <a:pPr marL="342900" indent="-342900" algn="just">
              <a:buFont typeface="Arial" charset="2"/>
              <a:buChar char="•"/>
            </a:pPr>
            <a:r>
              <a:rPr lang="en-GB" sz="2400">
                <a:ln>
                  <a:solidFill>
                    <a:prstClr val="white">
                      <a:lumMod val="75000"/>
                      <a:lumOff val="25000"/>
                      <a:alpha val="10000"/>
                    </a:prstClr>
                  </a:solidFill>
                </a:ln>
                <a:effectLst>
                  <a:outerShdw blurRad="9525" dist="25400" dir="14640000" algn="tl" rotWithShape="0">
                    <a:prstClr val="white">
                      <a:alpha val="30000"/>
                    </a:prstClr>
                  </a:outerShdw>
                </a:effectLst>
                <a:latin typeface="Times New Roman"/>
                <a:cs typeface="Times New Roman"/>
              </a:rPr>
              <a:t>Astoria and Lower Manhattan contribute 33% each.</a:t>
            </a:r>
          </a:p>
          <a:p>
            <a:pPr algn="just"/>
            <a:endParaRPr lang="en-GB" sz="2400" dirty="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endParaRPr>
          </a:p>
          <a:p>
            <a:endParaRPr lang="en-GB">
              <a:ln>
                <a:solidFill>
                  <a:prstClr val="black">
                    <a:lumMod val="75000"/>
                    <a:lumOff val="25000"/>
                    <a:alpha val="10000"/>
                  </a:prstClr>
                </a:solidFill>
              </a:ln>
              <a:effectLst>
                <a:outerShdw blurRad="9525" dist="25400" dir="14640000" algn="tl" rotWithShape="0">
                  <a:prstClr val="black">
                    <a:alpha val="30000"/>
                  </a:prstClr>
                </a:outerShdw>
              </a:effectLst>
            </a:endParaRPr>
          </a:p>
          <a:p>
            <a:endParaRPr lang="en-GB">
              <a:ln>
                <a:solidFill>
                  <a:prstClr val="black">
                    <a:lumMod val="75000"/>
                    <a:lumOff val="25000"/>
                    <a:alpha val="10000"/>
                  </a:prstClr>
                </a:solidFill>
              </a:ln>
              <a:effectLst>
                <a:outerShdw blurRad="9525" dist="25400" dir="14640000" algn="tl" rotWithShape="0">
                  <a:prstClr val="black">
                    <a:alpha val="30000"/>
                  </a:prstClr>
                </a:outerShdw>
              </a:effectLst>
            </a:endParaRPr>
          </a:p>
        </p:txBody>
      </p:sp>
      <p:graphicFrame>
        <p:nvGraphicFramePr>
          <p:cNvPr id="7" name="Chart 6">
            <a:extLst>
              <a:ext uri="{FF2B5EF4-FFF2-40B4-BE49-F238E27FC236}">
                <a16:creationId xmlns:a16="http://schemas.microsoft.com/office/drawing/2014/main" id="{2F5DA87C-1C9B-388E-E532-F26D91ED2366}"/>
              </a:ext>
            </a:extLst>
          </p:cNvPr>
          <p:cNvGraphicFramePr>
            <a:graphicFrameLocks/>
          </p:cNvGraphicFramePr>
          <p:nvPr>
            <p:extLst>
              <p:ext uri="{D42A27DB-BD31-4B8C-83A1-F6EECF244321}">
                <p14:modId xmlns:p14="http://schemas.microsoft.com/office/powerpoint/2010/main" val="3415095282"/>
              </p:ext>
            </p:extLst>
          </p:nvPr>
        </p:nvGraphicFramePr>
        <p:xfrm>
          <a:off x="7585494" y="2090827"/>
          <a:ext cx="4430205" cy="37147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13087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D166557-4CDD-A05B-B0EE-862DBF326079}"/>
              </a:ext>
            </a:extLst>
          </p:cNvPr>
          <p:cNvSpPr>
            <a:spLocks noGrp="1"/>
          </p:cNvSpPr>
          <p:nvPr>
            <p:ph type="ctrTitle"/>
          </p:nvPr>
        </p:nvSpPr>
        <p:spPr>
          <a:xfrm>
            <a:off x="913335" y="385114"/>
            <a:ext cx="5682725" cy="1146574"/>
          </a:xfrm>
        </p:spPr>
        <p:txBody>
          <a:bodyPr/>
          <a:lstStyle/>
          <a:p>
            <a:pPr algn="just"/>
            <a:r>
              <a:rPr lang="en-GB" sz="28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rPr>
              <a:t>MONTHLY REVENUE BY STORE</a:t>
            </a:r>
            <a:endParaRPr lang="en-US"/>
          </a:p>
        </p:txBody>
      </p:sp>
      <p:sp>
        <p:nvSpPr>
          <p:cNvPr id="4" name="Subtitle 3">
            <a:extLst>
              <a:ext uri="{FF2B5EF4-FFF2-40B4-BE49-F238E27FC236}">
                <a16:creationId xmlns:a16="http://schemas.microsoft.com/office/drawing/2014/main" id="{D9A5CA89-15C1-2FD3-4589-B73614EBE4AA}"/>
              </a:ext>
            </a:extLst>
          </p:cNvPr>
          <p:cNvSpPr>
            <a:spLocks noGrp="1"/>
          </p:cNvSpPr>
          <p:nvPr>
            <p:ph type="subTitle" idx="1"/>
          </p:nvPr>
        </p:nvSpPr>
        <p:spPr>
          <a:xfrm>
            <a:off x="913795" y="1722696"/>
            <a:ext cx="5686437" cy="3809770"/>
          </a:xfrm>
        </p:spPr>
        <p:txBody>
          <a:bodyPr>
            <a:normAutofit/>
          </a:bodyPr>
          <a:lstStyle/>
          <a:p>
            <a:pPr algn="just"/>
            <a:r>
              <a:rPr lang="en-GB" sz="24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rPr>
              <a:t>ANALYSIS</a:t>
            </a:r>
            <a:endParaRPr lang="en-US"/>
          </a:p>
          <a:p>
            <a:pPr marL="342900" indent="-342900" algn="just">
              <a:buFont typeface="Arial" charset="2"/>
              <a:buChar char="•"/>
            </a:pPr>
            <a:r>
              <a:rPr lang="en-GB" sz="24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rPr>
              <a:t>Revenue trends fluctuate month-to-month per store</a:t>
            </a:r>
          </a:p>
          <a:p>
            <a:pPr marL="342900" indent="-342900" algn="just">
              <a:buFont typeface="Arial" charset="2"/>
              <a:buChar char="•"/>
            </a:pPr>
            <a:r>
              <a:rPr lang="en-GB" sz="24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rPr>
              <a:t>Monthly revenue growth shows a dip in </a:t>
            </a:r>
            <a:r>
              <a:rPr lang="en-GB" sz="2400" err="1">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rPr>
              <a:t>Februar</a:t>
            </a:r>
            <a:r>
              <a:rPr lang="en-GB" sz="24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rPr>
              <a:t>y</a:t>
            </a:r>
          </a:p>
          <a:p>
            <a:pPr marL="342900" indent="-342900" algn="just">
              <a:buFont typeface="Arial" charset="2"/>
              <a:buChar char="•"/>
            </a:pPr>
            <a:r>
              <a:rPr lang="en-GB" sz="24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rPr>
              <a:t>All stores recorded higher revenue in June compared to other </a:t>
            </a:r>
            <a:r>
              <a:rPr lang="en-GB" sz="2400" err="1">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rPr>
              <a:t>mon</a:t>
            </a:r>
            <a:r>
              <a:rPr lang="en-GB" sz="24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rPr>
              <a:t>ths</a:t>
            </a:r>
          </a:p>
        </p:txBody>
      </p:sp>
      <p:sp>
        <p:nvSpPr>
          <p:cNvPr id="2" name="Picture Placeholder 1">
            <a:extLst>
              <a:ext uri="{FF2B5EF4-FFF2-40B4-BE49-F238E27FC236}">
                <a16:creationId xmlns:a16="http://schemas.microsoft.com/office/drawing/2014/main" id="{F3BD1FEB-8894-046E-69F2-1EAA0D722E73}"/>
              </a:ext>
            </a:extLst>
          </p:cNvPr>
          <p:cNvSpPr>
            <a:spLocks noGrp="1"/>
          </p:cNvSpPr>
          <p:nvPr>
            <p:ph type="pic" sz="quarter" idx="13"/>
          </p:nvPr>
        </p:nvSpPr>
        <p:spPr/>
        <p:txBody>
          <a:bodyPr/>
          <a:lstStyle/>
          <a:p>
            <a:endParaRPr lang="en-US"/>
          </a:p>
        </p:txBody>
      </p:sp>
      <p:graphicFrame>
        <p:nvGraphicFramePr>
          <p:cNvPr id="5" name="Chart 4">
            <a:extLst>
              <a:ext uri="{FF2B5EF4-FFF2-40B4-BE49-F238E27FC236}">
                <a16:creationId xmlns:a16="http://schemas.microsoft.com/office/drawing/2014/main" id="{D6C77286-D67C-E249-92D9-1A907153DB2C}"/>
              </a:ext>
            </a:extLst>
          </p:cNvPr>
          <p:cNvGraphicFramePr>
            <a:graphicFrameLocks/>
          </p:cNvGraphicFramePr>
          <p:nvPr>
            <p:extLst>
              <p:ext uri="{D42A27DB-BD31-4B8C-83A1-F6EECF244321}">
                <p14:modId xmlns:p14="http://schemas.microsoft.com/office/powerpoint/2010/main" val="542397352"/>
              </p:ext>
            </p:extLst>
          </p:nvPr>
        </p:nvGraphicFramePr>
        <p:xfrm>
          <a:off x="7591336" y="1228366"/>
          <a:ext cx="4567147" cy="445410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33574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0E600-E5AA-6971-8218-18232147B04D}"/>
              </a:ext>
            </a:extLst>
          </p:cNvPr>
          <p:cNvSpPr>
            <a:spLocks noGrp="1"/>
          </p:cNvSpPr>
          <p:nvPr>
            <p:ph type="ctrTitle"/>
          </p:nvPr>
        </p:nvSpPr>
        <p:spPr>
          <a:xfrm>
            <a:off x="913335" y="1233378"/>
            <a:ext cx="5697102" cy="1031555"/>
          </a:xfrm>
        </p:spPr>
        <p:txBody>
          <a:bodyPr/>
          <a:lstStyle/>
          <a:p>
            <a:pPr algn="just"/>
            <a:r>
              <a:rPr lang="en-GB" sz="28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rPr>
              <a:t>REVENUE VS NUMBER OF SALES</a:t>
            </a:r>
            <a:endParaRPr lang="en-US"/>
          </a:p>
        </p:txBody>
      </p:sp>
      <p:sp>
        <p:nvSpPr>
          <p:cNvPr id="3" name="Subtitle 2">
            <a:extLst>
              <a:ext uri="{FF2B5EF4-FFF2-40B4-BE49-F238E27FC236}">
                <a16:creationId xmlns:a16="http://schemas.microsoft.com/office/drawing/2014/main" id="{6D6B228F-A2DB-4EE7-2313-4A76781DCAC9}"/>
              </a:ext>
            </a:extLst>
          </p:cNvPr>
          <p:cNvSpPr>
            <a:spLocks noGrp="1"/>
          </p:cNvSpPr>
          <p:nvPr>
            <p:ph type="subTitle" idx="1"/>
          </p:nvPr>
        </p:nvSpPr>
        <p:spPr>
          <a:xfrm>
            <a:off x="913795" y="3002281"/>
            <a:ext cx="5700814" cy="2990260"/>
          </a:xfrm>
        </p:spPr>
        <p:txBody>
          <a:bodyPr/>
          <a:lstStyle/>
          <a:p>
            <a:pPr marL="342900" indent="-342900" algn="just">
              <a:buFont typeface="Arial" charset="2"/>
              <a:buChar char="•"/>
            </a:pPr>
            <a:r>
              <a:rPr lang="en-GB" sz="24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rPr>
              <a:t>There </a:t>
            </a:r>
            <a:r>
              <a:rPr lang="en-GB" sz="2400" err="1">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rPr>
              <a:t>i</a:t>
            </a:r>
            <a:r>
              <a:rPr lang="en-GB" sz="24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rPr>
              <a:t>s a positive correlation between the number of sales and revenue</a:t>
            </a:r>
            <a:endParaRPr lang="en-US">
              <a:ln>
                <a:solidFill>
                  <a:prstClr val="black">
                    <a:lumMod val="75000"/>
                    <a:lumOff val="25000"/>
                    <a:alpha val="10000"/>
                  </a:prstClr>
                </a:solidFill>
              </a:ln>
              <a:effectLst>
                <a:outerShdw blurRad="9525" dist="25400" dir="14640000" algn="tl" rotWithShape="0">
                  <a:prstClr val="black">
                    <a:alpha val="30000"/>
                  </a:prstClr>
                </a:outerShdw>
              </a:effectLst>
            </a:endParaRPr>
          </a:p>
          <a:p>
            <a:pPr marL="342900" indent="-342900" algn="just">
              <a:buFont typeface="Arial" charset="2"/>
              <a:buChar char="•"/>
            </a:pPr>
            <a:r>
              <a:rPr lang="en-GB" sz="24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rPr>
              <a:t>Months with higher sales consistently show higher revenue</a:t>
            </a:r>
          </a:p>
        </p:txBody>
      </p:sp>
      <p:sp>
        <p:nvSpPr>
          <p:cNvPr id="5" name="Footer Placeholder 4">
            <a:extLst>
              <a:ext uri="{FF2B5EF4-FFF2-40B4-BE49-F238E27FC236}">
                <a16:creationId xmlns:a16="http://schemas.microsoft.com/office/drawing/2014/main" id="{C84E677B-76D8-2A49-92FC-1E15F5C4786F}"/>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29529B47-4645-C276-22D3-8BB5F2A203CE}"/>
              </a:ext>
            </a:extLst>
          </p:cNvPr>
          <p:cNvSpPr>
            <a:spLocks noGrp="1"/>
          </p:cNvSpPr>
          <p:nvPr>
            <p:ph type="pic" sz="quarter" idx="13"/>
          </p:nvPr>
        </p:nvSpPr>
        <p:spPr/>
        <p:txBody>
          <a:bodyPr/>
          <a:lstStyle/>
          <a:p>
            <a:endParaRPr lang="en-US"/>
          </a:p>
        </p:txBody>
      </p:sp>
      <p:sp>
        <p:nvSpPr>
          <p:cNvPr id="6" name="Slide Number Placeholder 5">
            <a:extLst>
              <a:ext uri="{FF2B5EF4-FFF2-40B4-BE49-F238E27FC236}">
                <a16:creationId xmlns:a16="http://schemas.microsoft.com/office/drawing/2014/main" id="{4B4B697A-DDD8-18B3-58E2-6271653D7C6C}"/>
              </a:ext>
            </a:extLst>
          </p:cNvPr>
          <p:cNvSpPr>
            <a:spLocks noGrp="1"/>
          </p:cNvSpPr>
          <p:nvPr>
            <p:ph type="sldNum" sz="quarter" idx="12"/>
          </p:nvPr>
        </p:nvSpPr>
        <p:spPr/>
        <p:txBody>
          <a:bodyPr/>
          <a:lstStyle/>
          <a:p>
            <a:fld id="{294A09A9-5501-47C1-A89A-A340965A2BE2}" type="slidenum">
              <a:rPr lang="en-US" smtClean="0"/>
              <a:t>6</a:t>
            </a:fld>
            <a:endParaRPr lang="en-US"/>
          </a:p>
        </p:txBody>
      </p:sp>
      <p:graphicFrame>
        <p:nvGraphicFramePr>
          <p:cNvPr id="7" name="Chart 6">
            <a:extLst>
              <a:ext uri="{FF2B5EF4-FFF2-40B4-BE49-F238E27FC236}">
                <a16:creationId xmlns:a16="http://schemas.microsoft.com/office/drawing/2014/main" id="{306D3A12-E9EA-55CF-F9A7-41950100F5F9}"/>
              </a:ext>
            </a:extLst>
          </p:cNvPr>
          <p:cNvGraphicFramePr>
            <a:graphicFrameLocks/>
          </p:cNvGraphicFramePr>
          <p:nvPr>
            <p:extLst>
              <p:ext uri="{D42A27DB-BD31-4B8C-83A1-F6EECF244321}">
                <p14:modId xmlns:p14="http://schemas.microsoft.com/office/powerpoint/2010/main" val="3416474299"/>
              </p:ext>
            </p:extLst>
          </p:nvPr>
        </p:nvGraphicFramePr>
        <p:xfrm>
          <a:off x="7922558" y="888006"/>
          <a:ext cx="3923041" cy="489980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52608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020AA-3110-87B1-32ED-661391741FB7}"/>
              </a:ext>
            </a:extLst>
          </p:cNvPr>
          <p:cNvSpPr>
            <a:spLocks noGrp="1"/>
          </p:cNvSpPr>
          <p:nvPr>
            <p:ph type="ctrTitle"/>
          </p:nvPr>
        </p:nvSpPr>
        <p:spPr>
          <a:xfrm>
            <a:off x="913335" y="1233378"/>
            <a:ext cx="5682725" cy="988423"/>
          </a:xfrm>
        </p:spPr>
        <p:txBody>
          <a:bodyPr/>
          <a:lstStyle/>
          <a:p>
            <a:pPr algn="just"/>
            <a:r>
              <a:rPr lang="en-GB" sz="28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rPr>
              <a:t>TOP PRODUCTS</a:t>
            </a:r>
            <a:endParaRPr lang="en-US"/>
          </a:p>
        </p:txBody>
      </p:sp>
      <p:sp>
        <p:nvSpPr>
          <p:cNvPr id="3" name="Subtitle 2">
            <a:extLst>
              <a:ext uri="{FF2B5EF4-FFF2-40B4-BE49-F238E27FC236}">
                <a16:creationId xmlns:a16="http://schemas.microsoft.com/office/drawing/2014/main" id="{A1733446-AA05-7905-279C-098B735A5B02}"/>
              </a:ext>
            </a:extLst>
          </p:cNvPr>
          <p:cNvSpPr>
            <a:spLocks noGrp="1"/>
          </p:cNvSpPr>
          <p:nvPr>
            <p:ph type="subTitle" idx="1"/>
          </p:nvPr>
        </p:nvSpPr>
        <p:spPr>
          <a:xfrm>
            <a:off x="913795" y="2499074"/>
            <a:ext cx="5686437" cy="2774600"/>
          </a:xfrm>
        </p:spPr>
        <p:txBody>
          <a:bodyPr/>
          <a:lstStyle/>
          <a:p>
            <a:pPr marL="342900" indent="-342900" algn="just">
              <a:buFont typeface="Arial" charset="2"/>
              <a:buChar char="•"/>
            </a:pPr>
            <a:r>
              <a:rPr lang="en-GB" sz="2400" dirty="0">
                <a:latin typeface="Times New Roman"/>
                <a:cs typeface="Times New Roman"/>
              </a:rPr>
              <a:t>Sustainably Grown Organic Large (R21,151.75) and Dark Chocolate Large (R21,006) drive the majority of revenue.</a:t>
            </a:r>
            <a:endParaRPr lang="en-US" sz="2400" dirty="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endParaRPr>
          </a:p>
          <a:p>
            <a:pPr marL="342900" indent="-342900" algn="just">
              <a:buFont typeface="Arial" charset="2"/>
              <a:buChar char="•"/>
            </a:pPr>
            <a:r>
              <a:rPr lang="en-GB" sz="2400">
                <a:latin typeface="Times New Roman"/>
                <a:cs typeface="Times New Roman"/>
              </a:rPr>
              <a:t>Mid-tier products contribute R16–19k , with Brazilian Large at R15k.</a:t>
            </a:r>
            <a:endParaRPr lang="en-GB" sz="24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endParaRPr>
          </a:p>
        </p:txBody>
      </p:sp>
      <p:sp>
        <p:nvSpPr>
          <p:cNvPr id="4" name="Footer Placeholder 3">
            <a:extLst>
              <a:ext uri="{FF2B5EF4-FFF2-40B4-BE49-F238E27FC236}">
                <a16:creationId xmlns:a16="http://schemas.microsoft.com/office/drawing/2014/main" id="{A66A102C-B2BA-FA6E-BAFE-84659F8C55A4}"/>
              </a:ext>
            </a:extLst>
          </p:cNvPr>
          <p:cNvSpPr>
            <a:spLocks noGrp="1"/>
          </p:cNvSpPr>
          <p:nvPr>
            <p:ph type="ftr" sz="quarter" idx="11"/>
          </p:nvPr>
        </p:nvSpPr>
        <p:spPr/>
        <p:txBody>
          <a:bodyPr/>
          <a:lstStyle/>
          <a:p>
            <a:r>
              <a:rPr lang="en-US"/>
              <a:t>Sample footer text</a:t>
            </a:r>
          </a:p>
        </p:txBody>
      </p:sp>
      <p:sp>
        <p:nvSpPr>
          <p:cNvPr id="5" name="Picture Placeholder 4">
            <a:extLst>
              <a:ext uri="{FF2B5EF4-FFF2-40B4-BE49-F238E27FC236}">
                <a16:creationId xmlns:a16="http://schemas.microsoft.com/office/drawing/2014/main" id="{070E303F-31B8-37B6-855F-3549C610C27F}"/>
              </a:ext>
            </a:extLst>
          </p:cNvPr>
          <p:cNvSpPr>
            <a:spLocks noGrp="1"/>
          </p:cNvSpPr>
          <p:nvPr>
            <p:ph type="pic" sz="quarter" idx="13"/>
          </p:nvPr>
        </p:nvSpPr>
        <p:spPr/>
        <p:txBody>
          <a:bodyPr/>
          <a:lstStyle/>
          <a:p>
            <a:endParaRPr lang="en-US"/>
          </a:p>
        </p:txBody>
      </p:sp>
      <p:sp>
        <p:nvSpPr>
          <p:cNvPr id="6" name="Slide Number Placeholder 5">
            <a:extLst>
              <a:ext uri="{FF2B5EF4-FFF2-40B4-BE49-F238E27FC236}">
                <a16:creationId xmlns:a16="http://schemas.microsoft.com/office/drawing/2014/main" id="{E95F0F56-91C1-780D-13AA-B02D6E6542DB}"/>
              </a:ext>
            </a:extLst>
          </p:cNvPr>
          <p:cNvSpPr>
            <a:spLocks noGrp="1"/>
          </p:cNvSpPr>
          <p:nvPr>
            <p:ph type="sldNum" sz="quarter" idx="12"/>
          </p:nvPr>
        </p:nvSpPr>
        <p:spPr/>
        <p:txBody>
          <a:bodyPr/>
          <a:lstStyle/>
          <a:p>
            <a:fld id="{3A98EE3D-8CD1-4C3F-BD1C-C98C9596463C}" type="slidenum">
              <a:rPr lang="en-US" smtClean="0"/>
              <a:pPr/>
              <a:t>7</a:t>
            </a:fld>
            <a:endParaRPr lang="en-US"/>
          </a:p>
        </p:txBody>
      </p:sp>
      <p:graphicFrame>
        <p:nvGraphicFramePr>
          <p:cNvPr id="7" name="Chart 6">
            <a:extLst>
              <a:ext uri="{FF2B5EF4-FFF2-40B4-BE49-F238E27FC236}">
                <a16:creationId xmlns:a16="http://schemas.microsoft.com/office/drawing/2014/main" id="{244EC404-9406-07B3-45B6-21AEB7BCA9C3}"/>
              </a:ext>
            </a:extLst>
          </p:cNvPr>
          <p:cNvGraphicFramePr>
            <a:graphicFrameLocks/>
          </p:cNvGraphicFramePr>
          <p:nvPr>
            <p:extLst>
              <p:ext uri="{D42A27DB-BD31-4B8C-83A1-F6EECF244321}">
                <p14:modId xmlns:p14="http://schemas.microsoft.com/office/powerpoint/2010/main" val="2552872688"/>
              </p:ext>
            </p:extLst>
          </p:nvPr>
        </p:nvGraphicFramePr>
        <p:xfrm>
          <a:off x="7581720" y="1228366"/>
          <a:ext cx="4385094" cy="403716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2878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99AB7-88F3-8CE5-4B9F-923B36F8FD11}"/>
              </a:ext>
            </a:extLst>
          </p:cNvPr>
          <p:cNvSpPr>
            <a:spLocks noGrp="1"/>
          </p:cNvSpPr>
          <p:nvPr>
            <p:ph type="ctrTitle"/>
          </p:nvPr>
        </p:nvSpPr>
        <p:spPr>
          <a:xfrm>
            <a:off x="913335" y="492126"/>
            <a:ext cx="5697102" cy="1514015"/>
          </a:xfrm>
        </p:spPr>
        <p:txBody>
          <a:bodyPr/>
          <a:lstStyle/>
          <a:p>
            <a:pPr algn="just"/>
            <a:r>
              <a:rPr lang="en-GB" sz="2800">
                <a:latin typeface="Times New Roman"/>
                <a:cs typeface="Times New Roman"/>
              </a:rPr>
              <a:t>PRODUCT STRATEGY BY STORE</a:t>
            </a:r>
            <a:endParaRPr lang="en-GB" sz="28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endParaRPr>
          </a:p>
        </p:txBody>
      </p:sp>
      <p:sp>
        <p:nvSpPr>
          <p:cNvPr id="3" name="Subtitle 2">
            <a:extLst>
              <a:ext uri="{FF2B5EF4-FFF2-40B4-BE49-F238E27FC236}">
                <a16:creationId xmlns:a16="http://schemas.microsoft.com/office/drawing/2014/main" id="{0BA569EA-5A1E-6334-9FA8-6010DFBEDCB1}"/>
              </a:ext>
            </a:extLst>
          </p:cNvPr>
          <p:cNvSpPr>
            <a:spLocks noGrp="1"/>
          </p:cNvSpPr>
          <p:nvPr>
            <p:ph type="subTitle" idx="1"/>
          </p:nvPr>
        </p:nvSpPr>
        <p:spPr>
          <a:xfrm>
            <a:off x="518841" y="2450805"/>
            <a:ext cx="5686437" cy="3249053"/>
          </a:xfrm>
        </p:spPr>
        <p:txBody>
          <a:bodyPr vert="horz" lIns="91440" tIns="45720" rIns="91440" bIns="45720" rtlCol="0" anchor="t">
            <a:noAutofit/>
          </a:bodyPr>
          <a:lstStyle/>
          <a:p>
            <a:pPr marL="342900" indent="-342900" algn="just">
              <a:buFont typeface="Arial" charset="2"/>
              <a:buChar char="•"/>
            </a:pPr>
            <a:r>
              <a:rPr lang="en-GB" sz="2400" dirty="0">
                <a:latin typeface="Times New Roman"/>
                <a:cs typeface="Times New Roman"/>
              </a:rPr>
              <a:t>Coffee drives the highest revenue across all stores (R0.13 per store, total R0.39), while tea, bakery, branded products, and </a:t>
            </a:r>
            <a:r>
              <a:rPr lang="en-GB" sz="2400" dirty="0" err="1">
                <a:latin typeface="Times New Roman"/>
                <a:cs typeface="Times New Roman"/>
              </a:rPr>
              <a:t>flavor</a:t>
            </a:r>
            <a:r>
              <a:rPr lang="en-GB" sz="2400" dirty="0">
                <a:latin typeface="Times New Roman"/>
                <a:cs typeface="Times New Roman"/>
              </a:rPr>
              <a:t> (the lowest at R0.01) contribute less, highlighting key areas for strategic focus.</a:t>
            </a:r>
            <a:endParaRPr lang="en-GB" sz="2400" dirty="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endParaRPr>
          </a:p>
        </p:txBody>
      </p:sp>
      <p:sp>
        <p:nvSpPr>
          <p:cNvPr id="4" name="Footer Placeholder 3">
            <a:extLst>
              <a:ext uri="{FF2B5EF4-FFF2-40B4-BE49-F238E27FC236}">
                <a16:creationId xmlns:a16="http://schemas.microsoft.com/office/drawing/2014/main" id="{3D5C24E3-9C91-2F96-F5AD-5189EFCFB11D}"/>
              </a:ext>
            </a:extLst>
          </p:cNvPr>
          <p:cNvSpPr>
            <a:spLocks noGrp="1"/>
          </p:cNvSpPr>
          <p:nvPr>
            <p:ph type="ftr" sz="quarter" idx="11"/>
          </p:nvPr>
        </p:nvSpPr>
        <p:spPr/>
        <p:txBody>
          <a:bodyPr/>
          <a:lstStyle/>
          <a:p>
            <a:r>
              <a:rPr lang="en-US"/>
              <a:t>Sample footer text</a:t>
            </a:r>
          </a:p>
        </p:txBody>
      </p:sp>
      <p:sp>
        <p:nvSpPr>
          <p:cNvPr id="5" name="Picture Placeholder 4">
            <a:extLst>
              <a:ext uri="{FF2B5EF4-FFF2-40B4-BE49-F238E27FC236}">
                <a16:creationId xmlns:a16="http://schemas.microsoft.com/office/drawing/2014/main" id="{D9F747DD-55FC-8C7A-4DB9-86ACA3484316}"/>
              </a:ext>
            </a:extLst>
          </p:cNvPr>
          <p:cNvSpPr>
            <a:spLocks noGrp="1"/>
          </p:cNvSpPr>
          <p:nvPr>
            <p:ph type="pic" sz="quarter" idx="13"/>
          </p:nvPr>
        </p:nvSpPr>
        <p:spPr/>
        <p:txBody>
          <a:bodyPr/>
          <a:lstStyle/>
          <a:p>
            <a:endParaRPr lang="en-US"/>
          </a:p>
        </p:txBody>
      </p:sp>
      <p:sp>
        <p:nvSpPr>
          <p:cNvPr id="6" name="Slide Number Placeholder 5">
            <a:extLst>
              <a:ext uri="{FF2B5EF4-FFF2-40B4-BE49-F238E27FC236}">
                <a16:creationId xmlns:a16="http://schemas.microsoft.com/office/drawing/2014/main" id="{FFA3962C-64FA-3619-5EFB-4771EF7FEACC}"/>
              </a:ext>
            </a:extLst>
          </p:cNvPr>
          <p:cNvSpPr>
            <a:spLocks noGrp="1"/>
          </p:cNvSpPr>
          <p:nvPr>
            <p:ph type="sldNum" sz="quarter" idx="12"/>
          </p:nvPr>
        </p:nvSpPr>
        <p:spPr/>
        <p:txBody>
          <a:bodyPr/>
          <a:lstStyle/>
          <a:p>
            <a:fld id="{3A98EE3D-8CD1-4C3F-BD1C-C98C9596463C}" type="slidenum">
              <a:rPr lang="en-US" smtClean="0"/>
              <a:pPr/>
              <a:t>8</a:t>
            </a:fld>
            <a:endParaRPr lang="en-US"/>
          </a:p>
        </p:txBody>
      </p:sp>
      <p:graphicFrame>
        <p:nvGraphicFramePr>
          <p:cNvPr id="8" name="Chart 7">
            <a:extLst>
              <a:ext uri="{FF2B5EF4-FFF2-40B4-BE49-F238E27FC236}">
                <a16:creationId xmlns:a16="http://schemas.microsoft.com/office/drawing/2014/main" id="{8F867646-675B-7222-F3F1-7BF12A8775B6}"/>
              </a:ext>
            </a:extLst>
          </p:cNvPr>
          <p:cNvGraphicFramePr>
            <a:graphicFrameLocks/>
          </p:cNvGraphicFramePr>
          <p:nvPr>
            <p:extLst>
              <p:ext uri="{D42A27DB-BD31-4B8C-83A1-F6EECF244321}">
                <p14:modId xmlns:p14="http://schemas.microsoft.com/office/powerpoint/2010/main" val="1499386967"/>
              </p:ext>
            </p:extLst>
          </p:nvPr>
        </p:nvGraphicFramePr>
        <p:xfrm>
          <a:off x="7599153" y="1429649"/>
          <a:ext cx="4594644" cy="409467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67913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EFE94-1BFE-CFC6-B416-200C92BFDCFA}"/>
              </a:ext>
            </a:extLst>
          </p:cNvPr>
          <p:cNvSpPr>
            <a:spLocks noGrp="1"/>
          </p:cNvSpPr>
          <p:nvPr>
            <p:ph type="ctrTitle"/>
          </p:nvPr>
        </p:nvSpPr>
        <p:spPr>
          <a:xfrm>
            <a:off x="913335" y="1233378"/>
            <a:ext cx="5682725" cy="700876"/>
          </a:xfrm>
        </p:spPr>
        <p:txBody>
          <a:bodyPr/>
          <a:lstStyle/>
          <a:p>
            <a:pPr algn="just"/>
            <a:r>
              <a:rPr lang="en-GB" sz="2800">
                <a:latin typeface="Times New Roman"/>
                <a:cs typeface="Times New Roman"/>
              </a:rPr>
              <a:t>TIME OF DAY BEHAVIOR </a:t>
            </a:r>
            <a:endParaRPr lang="en-GB" sz="28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endParaRPr>
          </a:p>
        </p:txBody>
      </p:sp>
      <p:sp>
        <p:nvSpPr>
          <p:cNvPr id="3" name="Subtitle 2">
            <a:extLst>
              <a:ext uri="{FF2B5EF4-FFF2-40B4-BE49-F238E27FC236}">
                <a16:creationId xmlns:a16="http://schemas.microsoft.com/office/drawing/2014/main" id="{89312FE5-55CE-7BA7-17E1-063CED7ABCF6}"/>
              </a:ext>
            </a:extLst>
          </p:cNvPr>
          <p:cNvSpPr>
            <a:spLocks noGrp="1"/>
          </p:cNvSpPr>
          <p:nvPr>
            <p:ph type="subTitle" idx="1"/>
          </p:nvPr>
        </p:nvSpPr>
        <p:spPr>
          <a:xfrm>
            <a:off x="913795" y="2484697"/>
            <a:ext cx="5686437" cy="2788977"/>
          </a:xfrm>
        </p:spPr>
        <p:txBody>
          <a:bodyPr>
            <a:normAutofit/>
          </a:bodyPr>
          <a:lstStyle/>
          <a:p>
            <a:pPr marL="342900" indent="-342900" algn="just">
              <a:buFont typeface="Arial" charset="2"/>
              <a:buChar char="•"/>
            </a:pPr>
            <a:r>
              <a:rPr lang="en-GB" sz="2400" dirty="0">
                <a:latin typeface="Times New Roman"/>
                <a:cs typeface="Times New Roman"/>
              </a:rPr>
              <a:t>Sales peak in the mid-morning, with demand gradually declining throughout the day and lowest activity at </a:t>
            </a:r>
            <a:r>
              <a:rPr lang="en-GB" sz="2400">
                <a:latin typeface="Times New Roman"/>
                <a:cs typeface="Times New Roman"/>
              </a:rPr>
              <a:t>night.</a:t>
            </a:r>
            <a:endParaRPr lang="en-US" sz="24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endParaRPr>
          </a:p>
          <a:p>
            <a:pPr marL="342900" indent="-342900" algn="just">
              <a:buFont typeface="Arial" charset="2"/>
              <a:buChar char="•"/>
            </a:pPr>
            <a:r>
              <a:rPr lang="en-GB" sz="2400" dirty="0">
                <a:latin typeface="Times New Roman"/>
                <a:cs typeface="Times New Roman"/>
              </a:rPr>
              <a:t>This indicates customer purchasing is strongly concentrated in the early part of the day.</a:t>
            </a:r>
            <a:endParaRPr lang="en-GB" sz="24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endParaRPr>
          </a:p>
        </p:txBody>
      </p:sp>
      <p:sp>
        <p:nvSpPr>
          <p:cNvPr id="4" name="Footer Placeholder 3">
            <a:extLst>
              <a:ext uri="{FF2B5EF4-FFF2-40B4-BE49-F238E27FC236}">
                <a16:creationId xmlns:a16="http://schemas.microsoft.com/office/drawing/2014/main" id="{8919E70B-5C10-D314-C8B4-E228DEC8CB35}"/>
              </a:ext>
            </a:extLst>
          </p:cNvPr>
          <p:cNvSpPr>
            <a:spLocks noGrp="1"/>
          </p:cNvSpPr>
          <p:nvPr>
            <p:ph type="ftr" sz="quarter" idx="11"/>
          </p:nvPr>
        </p:nvSpPr>
        <p:spPr/>
        <p:txBody>
          <a:bodyPr/>
          <a:lstStyle/>
          <a:p>
            <a:r>
              <a:rPr lang="en-US"/>
              <a:t>Sample footer text</a:t>
            </a:r>
          </a:p>
        </p:txBody>
      </p:sp>
      <p:sp>
        <p:nvSpPr>
          <p:cNvPr id="5" name="Picture Placeholder 4">
            <a:extLst>
              <a:ext uri="{FF2B5EF4-FFF2-40B4-BE49-F238E27FC236}">
                <a16:creationId xmlns:a16="http://schemas.microsoft.com/office/drawing/2014/main" id="{13856D89-7736-7E7E-A46D-2CBA3144E66F}"/>
              </a:ext>
            </a:extLst>
          </p:cNvPr>
          <p:cNvSpPr>
            <a:spLocks noGrp="1"/>
          </p:cNvSpPr>
          <p:nvPr>
            <p:ph type="pic" sz="quarter" idx="13"/>
          </p:nvPr>
        </p:nvSpPr>
        <p:spPr/>
        <p:txBody>
          <a:bodyPr/>
          <a:lstStyle/>
          <a:p>
            <a:endParaRPr lang="en-US"/>
          </a:p>
        </p:txBody>
      </p:sp>
      <p:sp>
        <p:nvSpPr>
          <p:cNvPr id="6" name="Slide Number Placeholder 5">
            <a:extLst>
              <a:ext uri="{FF2B5EF4-FFF2-40B4-BE49-F238E27FC236}">
                <a16:creationId xmlns:a16="http://schemas.microsoft.com/office/drawing/2014/main" id="{B6F505A5-F217-5D8F-542C-C36E180DFCA0}"/>
              </a:ext>
            </a:extLst>
          </p:cNvPr>
          <p:cNvSpPr>
            <a:spLocks noGrp="1"/>
          </p:cNvSpPr>
          <p:nvPr>
            <p:ph type="sldNum" sz="quarter" idx="12"/>
          </p:nvPr>
        </p:nvSpPr>
        <p:spPr/>
        <p:txBody>
          <a:bodyPr/>
          <a:lstStyle/>
          <a:p>
            <a:fld id="{3A98EE3D-8CD1-4C3F-BD1C-C98C9596463C}" type="slidenum">
              <a:rPr lang="en-US" smtClean="0"/>
              <a:pPr/>
              <a:t>9</a:t>
            </a:fld>
            <a:endParaRPr lang="en-US"/>
          </a:p>
        </p:txBody>
      </p:sp>
      <p:graphicFrame>
        <p:nvGraphicFramePr>
          <p:cNvPr id="7" name="Chart 6">
            <a:extLst>
              <a:ext uri="{FF2B5EF4-FFF2-40B4-BE49-F238E27FC236}">
                <a16:creationId xmlns:a16="http://schemas.microsoft.com/office/drawing/2014/main" id="{D06732FC-FCF7-C5B7-BDED-1726B8E479C5}"/>
              </a:ext>
            </a:extLst>
          </p:cNvPr>
          <p:cNvGraphicFramePr>
            <a:graphicFrameLocks/>
          </p:cNvGraphicFramePr>
          <p:nvPr>
            <p:extLst>
              <p:ext uri="{D42A27DB-BD31-4B8C-83A1-F6EECF244321}">
                <p14:modId xmlns:p14="http://schemas.microsoft.com/office/powerpoint/2010/main" val="3539039895"/>
              </p:ext>
            </p:extLst>
          </p:nvPr>
        </p:nvGraphicFramePr>
        <p:xfrm>
          <a:off x="7289860" y="1501535"/>
          <a:ext cx="4724400" cy="402278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75110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160CE-92BF-56D3-B176-58C2F95F7062}"/>
              </a:ext>
            </a:extLst>
          </p:cNvPr>
          <p:cNvSpPr>
            <a:spLocks noGrp="1"/>
          </p:cNvSpPr>
          <p:nvPr>
            <p:ph type="ctrTitle"/>
          </p:nvPr>
        </p:nvSpPr>
        <p:spPr>
          <a:xfrm>
            <a:off x="913335" y="1147114"/>
            <a:ext cx="5697102" cy="672121"/>
          </a:xfrm>
        </p:spPr>
        <p:txBody>
          <a:bodyPr/>
          <a:lstStyle/>
          <a:p>
            <a:pPr algn="just"/>
            <a:r>
              <a:rPr lang="en-GB" sz="280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rPr>
              <a:t>PEAK PERIODS</a:t>
            </a:r>
            <a:endParaRPr lang="en-US"/>
          </a:p>
        </p:txBody>
      </p:sp>
      <p:sp>
        <p:nvSpPr>
          <p:cNvPr id="3" name="Subtitle 2">
            <a:extLst>
              <a:ext uri="{FF2B5EF4-FFF2-40B4-BE49-F238E27FC236}">
                <a16:creationId xmlns:a16="http://schemas.microsoft.com/office/drawing/2014/main" id="{E1B494F9-F034-81D2-5C49-43300C66B7DF}"/>
              </a:ext>
            </a:extLst>
          </p:cNvPr>
          <p:cNvSpPr>
            <a:spLocks noGrp="1"/>
          </p:cNvSpPr>
          <p:nvPr>
            <p:ph type="subTitle" idx="1"/>
          </p:nvPr>
        </p:nvSpPr>
        <p:spPr>
          <a:xfrm>
            <a:off x="913795" y="2082130"/>
            <a:ext cx="5700814" cy="3781015"/>
          </a:xfrm>
        </p:spPr>
        <p:txBody>
          <a:bodyPr vert="horz" lIns="91440" tIns="45720" rIns="91440" bIns="45720" rtlCol="0" anchor="t">
            <a:noAutofit/>
          </a:bodyPr>
          <a:lstStyle/>
          <a:p>
            <a:pPr marL="342900" indent="-342900" algn="just">
              <a:buFont typeface="Arial" charset="2"/>
              <a:buChar char="•"/>
            </a:pPr>
            <a:r>
              <a:rPr lang="en-GB" sz="2400" dirty="0">
                <a:latin typeface="Times New Roman"/>
                <a:cs typeface="Times New Roman"/>
              </a:rPr>
              <a:t>Mid-morning is the dominant revenue driver across all days, with particularly strong performance on Tuesdays, while Saturdays consistently underperform. Early rush demand peaks on Fridays, and afternoon strength shifts to Thursdays and weekends, </a:t>
            </a:r>
            <a:r>
              <a:rPr lang="en-GB" sz="2400">
                <a:latin typeface="Times New Roman"/>
                <a:cs typeface="Times New Roman"/>
              </a:rPr>
              <a:t>showing</a:t>
            </a:r>
            <a:r>
              <a:rPr lang="en-GB" sz="2400" dirty="0">
                <a:latin typeface="Times New Roman"/>
                <a:cs typeface="Times New Roman"/>
              </a:rPr>
              <a:t> evolving customer </a:t>
            </a:r>
            <a:r>
              <a:rPr lang="en-GB" sz="2400">
                <a:latin typeface="Times New Roman"/>
                <a:cs typeface="Times New Roman"/>
              </a:rPr>
              <a:t>behaviour later in the week. Overall, night </a:t>
            </a:r>
            <a:r>
              <a:rPr lang="en-GB" sz="2400" dirty="0">
                <a:latin typeface="Times New Roman"/>
                <a:cs typeface="Times New Roman"/>
              </a:rPr>
              <a:t>periods remain weak, highlighting an opportunity to stimulate off-peak sales.</a:t>
            </a:r>
            <a:endParaRPr lang="en-US" sz="2400" dirty="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endParaRPr>
          </a:p>
        </p:txBody>
      </p:sp>
      <p:sp>
        <p:nvSpPr>
          <p:cNvPr id="4" name="Footer Placeholder 3">
            <a:extLst>
              <a:ext uri="{FF2B5EF4-FFF2-40B4-BE49-F238E27FC236}">
                <a16:creationId xmlns:a16="http://schemas.microsoft.com/office/drawing/2014/main" id="{1E42E0C4-DE28-3736-B1AF-E007B91DED61}"/>
              </a:ext>
            </a:extLst>
          </p:cNvPr>
          <p:cNvSpPr>
            <a:spLocks noGrp="1"/>
          </p:cNvSpPr>
          <p:nvPr>
            <p:ph type="ftr" sz="quarter" idx="11"/>
          </p:nvPr>
        </p:nvSpPr>
        <p:spPr/>
        <p:txBody>
          <a:bodyPr/>
          <a:lstStyle/>
          <a:p>
            <a:r>
              <a:rPr lang="en-US"/>
              <a:t>Sample footer text</a:t>
            </a:r>
          </a:p>
        </p:txBody>
      </p:sp>
      <p:sp>
        <p:nvSpPr>
          <p:cNvPr id="5" name="Picture Placeholder 4">
            <a:extLst>
              <a:ext uri="{FF2B5EF4-FFF2-40B4-BE49-F238E27FC236}">
                <a16:creationId xmlns:a16="http://schemas.microsoft.com/office/drawing/2014/main" id="{E3E6A3A5-6D4A-0721-01E8-DE1AD8BC9D16}"/>
              </a:ext>
            </a:extLst>
          </p:cNvPr>
          <p:cNvSpPr>
            <a:spLocks noGrp="1"/>
          </p:cNvSpPr>
          <p:nvPr>
            <p:ph type="pic" sz="quarter" idx="13"/>
          </p:nvPr>
        </p:nvSpPr>
        <p:spPr/>
        <p:txBody>
          <a:bodyPr/>
          <a:lstStyle/>
          <a:p>
            <a:endParaRPr lang="en-US"/>
          </a:p>
        </p:txBody>
      </p:sp>
      <p:sp>
        <p:nvSpPr>
          <p:cNvPr id="6" name="Slide Number Placeholder 5">
            <a:extLst>
              <a:ext uri="{FF2B5EF4-FFF2-40B4-BE49-F238E27FC236}">
                <a16:creationId xmlns:a16="http://schemas.microsoft.com/office/drawing/2014/main" id="{B2AF1E56-2453-4FF1-6F55-36BAC5393CF3}"/>
              </a:ext>
            </a:extLst>
          </p:cNvPr>
          <p:cNvSpPr>
            <a:spLocks noGrp="1"/>
          </p:cNvSpPr>
          <p:nvPr>
            <p:ph type="sldNum" sz="quarter" idx="12"/>
          </p:nvPr>
        </p:nvSpPr>
        <p:spPr/>
        <p:txBody>
          <a:bodyPr/>
          <a:lstStyle/>
          <a:p>
            <a:fld id="{3A98EE3D-8CD1-4C3F-BD1C-C98C9596463C}" type="slidenum">
              <a:rPr lang="en-US" smtClean="0"/>
              <a:pPr/>
              <a:t>10</a:t>
            </a:fld>
            <a:endParaRPr lang="en-US"/>
          </a:p>
        </p:txBody>
      </p:sp>
      <p:graphicFrame>
        <p:nvGraphicFramePr>
          <p:cNvPr id="7" name="Chart 6">
            <a:extLst>
              <a:ext uri="{FF2B5EF4-FFF2-40B4-BE49-F238E27FC236}">
                <a16:creationId xmlns:a16="http://schemas.microsoft.com/office/drawing/2014/main" id="{CD68D92D-032A-A393-5225-BCD5DB83C995}"/>
              </a:ext>
            </a:extLst>
          </p:cNvPr>
          <p:cNvGraphicFramePr>
            <a:graphicFrameLocks/>
          </p:cNvGraphicFramePr>
          <p:nvPr>
            <p:extLst>
              <p:ext uri="{D42A27DB-BD31-4B8C-83A1-F6EECF244321}">
                <p14:modId xmlns:p14="http://schemas.microsoft.com/office/powerpoint/2010/main" val="2409448179"/>
              </p:ext>
            </p:extLst>
          </p:nvPr>
        </p:nvGraphicFramePr>
        <p:xfrm>
          <a:off x="7581720" y="1142102"/>
          <a:ext cx="4586377" cy="412342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211759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1290" y="298850"/>
            <a:ext cx="5898114" cy="681687"/>
          </a:xfrm>
        </p:spPr>
        <p:txBody>
          <a:bodyPr>
            <a:normAutofit fontScale="90000"/>
          </a:bodyPr>
          <a:lstStyle/>
          <a:p>
            <a:r>
              <a:rPr lang="en-US">
                <a:ln>
                  <a:solidFill>
                    <a:prstClr val="black">
                      <a:lumMod val="75000"/>
                      <a:lumOff val="25000"/>
                      <a:alpha val="10000"/>
                    </a:prstClr>
                  </a:solidFill>
                </a:ln>
                <a:effectLst>
                  <a:outerShdw blurRad="9525" dist="25400" dir="14640000" algn="tl" rotWithShape="0">
                    <a:prstClr val="black">
                      <a:alpha val="30000"/>
                    </a:prstClr>
                  </a:outerShdw>
                </a:effectLst>
              </a:rPr>
              <a:t>KEY INSIGHTS</a:t>
            </a:r>
          </a:p>
        </p:txBody>
      </p:sp>
      <p:sp>
        <p:nvSpPr>
          <p:cNvPr id="3" name="Subtitle 2" descr="Tag=AccentColor&#10;Flavor=Light&#10;Target=Text"/>
          <p:cNvSpPr>
            <a:spLocks noGrp="1"/>
          </p:cNvSpPr>
          <p:nvPr>
            <p:ph type="subTitle" idx="13"/>
          </p:nvPr>
        </p:nvSpPr>
        <p:spPr>
          <a:xfrm>
            <a:off x="5211289" y="969036"/>
            <a:ext cx="5898115" cy="5584221"/>
          </a:xfrm>
        </p:spPr>
        <p:txBody>
          <a:bodyPr vert="horz" lIns="91440" tIns="45720" rIns="91440" bIns="45720" rtlCol="0" anchor="t">
            <a:noAutofit/>
          </a:bodyPr>
          <a:lstStyle/>
          <a:p>
            <a:pPr marL="322580" indent="-285750">
              <a:buFont typeface="Arial" charset="2"/>
              <a:buChar char="•"/>
            </a:pPr>
            <a:r>
              <a:rPr lang="en-US" sz="1800" dirty="0">
                <a:latin typeface="Times New Roman"/>
                <a:cs typeface="Times New Roman"/>
              </a:rPr>
              <a:t>Coffee dominates revenue, driving the majority of Bright coffee sales.</a:t>
            </a:r>
            <a:endParaRPr lang="en-US" sz="1800" dirty="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endParaRPr>
          </a:p>
          <a:p>
            <a:pPr marL="322580" indent="-285750">
              <a:buFont typeface="Arial" charset="2"/>
              <a:buChar char="•"/>
            </a:pPr>
            <a:r>
              <a:rPr lang="en-US" sz="1800" dirty="0">
                <a:latin typeface="Times New Roman"/>
                <a:cs typeface="Times New Roman"/>
              </a:rPr>
              <a:t>Store performance is balanced, with Hell's Kitchen slightly leading; Astoria &amp; Lower </a:t>
            </a:r>
            <a:r>
              <a:rPr lang="en-US" sz="1800">
                <a:latin typeface="Times New Roman"/>
                <a:cs typeface="Times New Roman"/>
              </a:rPr>
              <a:t>Manhattan</a:t>
            </a:r>
            <a:r>
              <a:rPr lang="en-US" sz="1800" dirty="0">
                <a:latin typeface="Times New Roman"/>
                <a:cs typeface="Times New Roman"/>
              </a:rPr>
              <a:t> stores follow closely.</a:t>
            </a:r>
            <a:endParaRPr lang="en-US" sz="1800" dirty="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endParaRPr>
          </a:p>
          <a:p>
            <a:pPr marL="322580" indent="-285750">
              <a:buFont typeface="Arial" charset="2"/>
              <a:buChar char="•"/>
            </a:pPr>
            <a:r>
              <a:rPr lang="en-US" sz="1800" dirty="0">
                <a:latin typeface="Times New Roman"/>
                <a:cs typeface="Times New Roman"/>
              </a:rPr>
              <a:t>Revenue growth aligns with sales volume, confirming a high-traffic, volume-driven </a:t>
            </a:r>
            <a:r>
              <a:rPr lang="en-US" sz="1800">
                <a:latin typeface="Times New Roman"/>
                <a:cs typeface="Times New Roman"/>
              </a:rPr>
              <a:t>model.</a:t>
            </a:r>
            <a:endParaRPr lang="en-US" sz="1800" dirty="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endParaRPr>
          </a:p>
          <a:p>
            <a:pPr marL="322580" indent="-285750">
              <a:buFont typeface="Arial" charset="2"/>
              <a:buChar char="•"/>
            </a:pPr>
            <a:r>
              <a:rPr lang="en-US" sz="1800" dirty="0">
                <a:latin typeface="Times New Roman"/>
                <a:cs typeface="Times New Roman"/>
              </a:rPr>
              <a:t>Top 10 products contribute most revenue, highlighting a strong Pareto </a:t>
            </a:r>
            <a:r>
              <a:rPr lang="en-US" sz="1800">
                <a:latin typeface="Times New Roman"/>
                <a:cs typeface="Times New Roman"/>
              </a:rPr>
              <a:t>effect. </a:t>
            </a:r>
            <a:endParaRPr lang="en-US" sz="1800" dirty="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endParaRPr>
          </a:p>
          <a:p>
            <a:pPr marL="322580" indent="-285750">
              <a:buFont typeface="Arial" charset="2"/>
              <a:buChar char="•"/>
            </a:pPr>
            <a:r>
              <a:rPr lang="en-US" sz="1800" dirty="0">
                <a:latin typeface="Times New Roman"/>
                <a:cs typeface="Times New Roman"/>
              </a:rPr>
              <a:t>Product demand varies by store, indicating customer preference differences. </a:t>
            </a:r>
            <a:endParaRPr lang="en-US" sz="1800" dirty="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endParaRPr>
          </a:p>
          <a:p>
            <a:pPr marL="322580" indent="-285750">
              <a:buFont typeface="Arial" charset="2"/>
              <a:buChar char="•"/>
            </a:pPr>
            <a:r>
              <a:rPr lang="en-US" sz="1800">
                <a:latin typeface="Times New Roman"/>
                <a:cs typeface="Times New Roman"/>
              </a:rPr>
              <a:t>Mid-morning is the peak period, followed by early rush hours; afternoons, late </a:t>
            </a:r>
            <a:r>
              <a:rPr lang="en-US" sz="1800" dirty="0">
                <a:latin typeface="Times New Roman"/>
                <a:cs typeface="Times New Roman"/>
              </a:rPr>
              <a:t>rush, and nights </a:t>
            </a:r>
            <a:r>
              <a:rPr lang="en-US" sz="1800">
                <a:latin typeface="Times New Roman"/>
                <a:cs typeface="Times New Roman"/>
              </a:rPr>
              <a:t>underperform. </a:t>
            </a:r>
            <a:endParaRPr lang="en-US" sz="1800" dirty="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endParaRPr>
          </a:p>
          <a:p>
            <a:pPr marL="322580" indent="-285750">
              <a:buFont typeface="Arial" charset="2"/>
              <a:buChar char="•"/>
            </a:pPr>
            <a:r>
              <a:rPr lang="en-US" sz="1800">
                <a:latin typeface="Times New Roman"/>
                <a:cs typeface="Times New Roman"/>
              </a:rPr>
              <a:t>Peak</a:t>
            </a:r>
            <a:r>
              <a:rPr lang="en-US" sz="1800" dirty="0">
                <a:latin typeface="Times New Roman"/>
                <a:cs typeface="Times New Roman"/>
              </a:rPr>
              <a:t> periods vary by day: Tuesday is highest </a:t>
            </a:r>
            <a:r>
              <a:rPr lang="en-US" sz="1800">
                <a:latin typeface="Times New Roman"/>
                <a:cs typeface="Times New Roman"/>
              </a:rPr>
              <a:t>mid-morning; Saturday is the lowest.</a:t>
            </a:r>
            <a:endParaRPr lang="en-US" sz="1800" dirty="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endParaRPr>
          </a:p>
          <a:p>
            <a:pPr marL="322580" indent="-285750">
              <a:buFont typeface="Arial" charset="2"/>
              <a:buChar char="•"/>
            </a:pPr>
            <a:r>
              <a:rPr lang="en-US" sz="1800" dirty="0">
                <a:latin typeface="Times New Roman"/>
                <a:cs typeface="Times New Roman"/>
              </a:rPr>
              <a:t>Monthly trends indicate growth spikes, suggesting seasonality or promotional impacts.</a:t>
            </a:r>
            <a:endParaRPr lang="en-US" sz="1800" dirty="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endParaRPr>
          </a:p>
        </p:txBody>
      </p:sp>
      <p:pic>
        <p:nvPicPr>
          <p:cNvPr id="17" name="Picture Placeholder 16" descr="A person in a suit reading">
            <a:extLst>
              <a:ext uri="{FF2B5EF4-FFF2-40B4-BE49-F238E27FC236}">
                <a16:creationId xmlns:a16="http://schemas.microsoft.com/office/drawing/2014/main" id="{A2D17E8B-7A48-40BF-8132-27E5B0DBE65E}"/>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11113" y="0"/>
            <a:ext cx="4583113" cy="6858000"/>
          </a:xfrm>
        </p:spPr>
      </p:pic>
      <p:sp>
        <p:nvSpPr>
          <p:cNvPr id="4" name="Footer Placeholder 3">
            <a:extLst>
              <a:ext uri="{FF2B5EF4-FFF2-40B4-BE49-F238E27FC236}">
                <a16:creationId xmlns:a16="http://schemas.microsoft.com/office/drawing/2014/main" id="{10C49536-DF0B-454A-9018-D4982C1EB884}"/>
              </a:ext>
            </a:extLst>
          </p:cNvPr>
          <p:cNvSpPr>
            <a:spLocks noGrp="1"/>
          </p:cNvSpPr>
          <p:nvPr>
            <p:ph type="ftr" sz="quarter" idx="11"/>
          </p:nvPr>
        </p:nvSpPr>
        <p:spPr/>
        <p:txBody>
          <a:bodyPr/>
          <a:lstStyle/>
          <a:p>
            <a:r>
              <a:rPr lang="en-US"/>
              <a:t>Sample footer text</a:t>
            </a:r>
          </a:p>
        </p:txBody>
      </p:sp>
      <p:sp>
        <p:nvSpPr>
          <p:cNvPr id="19" name="Slide Number Placeholder 5">
            <a:extLst>
              <a:ext uri="{FF2B5EF4-FFF2-40B4-BE49-F238E27FC236}">
                <a16:creationId xmlns:a16="http://schemas.microsoft.com/office/drawing/2014/main" id="{0F1BC668-CEDC-414E-9BE5-D2234A944056}"/>
              </a:ext>
            </a:extLst>
          </p:cNvPr>
          <p:cNvSpPr>
            <a:spLocks noGrp="1"/>
          </p:cNvSpPr>
          <p:nvPr>
            <p:ph type="sldNum" sz="quarter" idx="12"/>
          </p:nvPr>
        </p:nvSpPr>
        <p:spPr>
          <a:xfrm>
            <a:off x="10514011" y="6000749"/>
            <a:ext cx="753545" cy="365125"/>
          </a:xfrm>
        </p:spPr>
        <p:txBody>
          <a:bodyPr/>
          <a:lstStyle/>
          <a:p>
            <a:fld id="{3A98EE3D-8CD1-4C3F-BD1C-C98C9596463C}" type="slidenum">
              <a:rPr lang="en-US" smtClean="0"/>
              <a:pPr/>
              <a:t>11</a:t>
            </a:fld>
            <a:endParaRPr lang="en-US"/>
          </a:p>
        </p:txBody>
      </p:sp>
    </p:spTree>
    <p:extLst>
      <p:ext uri="{BB962C8B-B14F-4D97-AF65-F5344CB8AC3E}">
        <p14:creationId xmlns:p14="http://schemas.microsoft.com/office/powerpoint/2010/main" val="3831612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94458-C9DB-116E-86C3-2346F6DEC4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122A56-8756-149E-9695-E5EE9FCFF511}"/>
              </a:ext>
            </a:extLst>
          </p:cNvPr>
          <p:cNvSpPr>
            <a:spLocks noGrp="1"/>
          </p:cNvSpPr>
          <p:nvPr>
            <p:ph type="title"/>
          </p:nvPr>
        </p:nvSpPr>
        <p:spPr>
          <a:xfrm>
            <a:off x="5214219" y="344378"/>
            <a:ext cx="5898114" cy="681687"/>
          </a:xfrm>
        </p:spPr>
        <p:txBody>
          <a:bodyPr>
            <a:normAutofit fontScale="90000"/>
          </a:bodyPr>
          <a:lstStyle/>
          <a:p>
            <a:r>
              <a:rPr lang="en-GB">
                <a:ln>
                  <a:solidFill>
                    <a:prstClr val="black">
                      <a:lumMod val="75000"/>
                      <a:lumOff val="25000"/>
                      <a:alpha val="10000"/>
                    </a:prstClr>
                  </a:solidFill>
                </a:ln>
                <a:effectLst>
                  <a:outerShdw blurRad="9525" dist="25400" dir="14640000" algn="tl" rotWithShape="0">
                    <a:prstClr val="black">
                      <a:alpha val="30000"/>
                    </a:prstClr>
                  </a:outerShdw>
                </a:effectLst>
              </a:rPr>
              <a:t>RECOMMENDATIONS</a:t>
            </a:r>
            <a:endParaRPr lang="en-US">
              <a:ln>
                <a:solidFill>
                  <a:prstClr val="black">
                    <a:lumMod val="75000"/>
                    <a:lumOff val="25000"/>
                    <a:alpha val="10000"/>
                  </a:prstClr>
                </a:solidFill>
              </a:ln>
              <a:effectLst>
                <a:outerShdw blurRad="9525" dist="25400" dir="14640000" algn="tl" rotWithShape="0">
                  <a:prstClr val="black">
                    <a:alpha val="30000"/>
                  </a:prstClr>
                </a:outerShdw>
              </a:effectLst>
            </a:endParaRPr>
          </a:p>
        </p:txBody>
      </p:sp>
      <p:sp>
        <p:nvSpPr>
          <p:cNvPr id="3" name="Subtitle 2" descr="Tag=AccentColor&#10;Flavor=Light&#10;Target=Text">
            <a:extLst>
              <a:ext uri="{FF2B5EF4-FFF2-40B4-BE49-F238E27FC236}">
                <a16:creationId xmlns:a16="http://schemas.microsoft.com/office/drawing/2014/main" id="{92C9495E-01DD-C490-6573-6E0B6F1F81FD}"/>
              </a:ext>
            </a:extLst>
          </p:cNvPr>
          <p:cNvSpPr>
            <a:spLocks noGrp="1"/>
          </p:cNvSpPr>
          <p:nvPr>
            <p:ph type="subTitle" idx="13"/>
          </p:nvPr>
        </p:nvSpPr>
        <p:spPr>
          <a:xfrm>
            <a:off x="5369440" y="1042207"/>
            <a:ext cx="5912226" cy="5323667"/>
          </a:xfrm>
        </p:spPr>
        <p:txBody>
          <a:bodyPr>
            <a:normAutofit/>
          </a:bodyPr>
          <a:lstStyle/>
          <a:p>
            <a:pPr marL="36830"/>
            <a:r>
              <a:rPr lang="en-US" dirty="0"/>
              <a:t>Maximize peak hours (mid-morning &amp; early rush) with improved service and bundle deals.  </a:t>
            </a:r>
            <a:endParaRPr lang="en-US">
              <a:ln>
                <a:solidFill>
                  <a:prstClr val="black">
                    <a:lumMod val="75000"/>
                    <a:lumOff val="25000"/>
                    <a:alpha val="10000"/>
                  </a:prstClr>
                </a:solidFill>
              </a:ln>
              <a:effectLst>
                <a:outerShdw blurRad="9525" dist="25400" dir="14640000" algn="tl" rotWithShape="0">
                  <a:prstClr val="black">
                    <a:alpha val="30000"/>
                  </a:prstClr>
                </a:outerShdw>
              </a:effectLst>
            </a:endParaRPr>
          </a:p>
          <a:p>
            <a:pPr marL="36830"/>
            <a:r>
              <a:rPr lang="en-US" dirty="0"/>
              <a:t>Boost off-peak performance (afternoon, night, weekends) using time-based </a:t>
            </a:r>
            <a:r>
              <a:rPr lang="en-US"/>
              <a:t>promotions.</a:t>
            </a:r>
            <a:endParaRPr lang="en-US">
              <a:ln>
                <a:solidFill>
                  <a:prstClr val="black">
                    <a:lumMod val="75000"/>
                    <a:lumOff val="25000"/>
                    <a:alpha val="10000"/>
                  </a:prstClr>
                </a:solidFill>
              </a:ln>
              <a:effectLst>
                <a:outerShdw blurRad="9525" dist="25400" dir="14640000" algn="tl" rotWithShape="0">
                  <a:prstClr val="black">
                    <a:alpha val="30000"/>
                  </a:prstClr>
                </a:outerShdw>
              </a:effectLst>
            </a:endParaRPr>
          </a:p>
          <a:p>
            <a:pPr marL="36830"/>
            <a:r>
              <a:rPr lang="en-US"/>
              <a:t>Leverage</a:t>
            </a:r>
            <a:r>
              <a:rPr lang="en-US" dirty="0"/>
              <a:t> top products by expanding coffee offerings and bundling low-performing </a:t>
            </a:r>
            <a:r>
              <a:rPr lang="en-US"/>
              <a:t>items.</a:t>
            </a:r>
            <a:endParaRPr lang="en-US">
              <a:ln>
                <a:solidFill>
                  <a:prstClr val="black">
                    <a:lumMod val="75000"/>
                    <a:lumOff val="25000"/>
                    <a:alpha val="10000"/>
                  </a:prstClr>
                </a:solidFill>
              </a:ln>
              <a:effectLst>
                <a:outerShdw blurRad="9525" dist="25400" dir="14640000" algn="tl" rotWithShape="0">
                  <a:prstClr val="black">
                    <a:alpha val="30000"/>
                  </a:prstClr>
                </a:outerShdw>
              </a:effectLst>
            </a:endParaRPr>
          </a:p>
          <a:p>
            <a:pPr marL="36830"/>
            <a:r>
              <a:rPr lang="en-US" dirty="0"/>
              <a:t>Optimize product mix by focusing on top 10 items; reposition or remove weak performers.</a:t>
            </a:r>
            <a:endParaRPr lang="en-US" dirty="0">
              <a:ln>
                <a:solidFill>
                  <a:prstClr val="black">
                    <a:lumMod val="75000"/>
                    <a:lumOff val="25000"/>
                    <a:alpha val="10000"/>
                  </a:prstClr>
                </a:solidFill>
              </a:ln>
              <a:effectLst>
                <a:outerShdw blurRad="9525" dist="25400" dir="14640000" algn="tl" rotWithShape="0">
                  <a:prstClr val="black">
                    <a:alpha val="30000"/>
                  </a:prstClr>
                </a:outerShdw>
              </a:effectLst>
            </a:endParaRPr>
          </a:p>
          <a:p>
            <a:pPr marL="36830"/>
            <a:r>
              <a:rPr lang="en-US" dirty="0"/>
              <a:t>Replicate best store practices from Health Kitchen across all </a:t>
            </a:r>
            <a:r>
              <a:rPr lang="en-US"/>
              <a:t>locations.</a:t>
            </a:r>
            <a:endParaRPr lang="en-US">
              <a:ln>
                <a:solidFill>
                  <a:prstClr val="black">
                    <a:lumMod val="75000"/>
                    <a:lumOff val="25000"/>
                    <a:alpha val="10000"/>
                  </a:prstClr>
                </a:solidFill>
              </a:ln>
              <a:effectLst>
                <a:outerShdw blurRad="9525" dist="25400" dir="14640000" algn="tl" rotWithShape="0">
                  <a:prstClr val="black">
                    <a:alpha val="30000"/>
                  </a:prstClr>
                </a:outerShdw>
              </a:effectLst>
            </a:endParaRPr>
          </a:p>
          <a:p>
            <a:pPr marL="36830"/>
            <a:r>
              <a:rPr lang="en-US" dirty="0"/>
              <a:t>Align products with store-specific demand for improved sales </a:t>
            </a:r>
            <a:r>
              <a:rPr lang="en-US"/>
              <a:t>consistency.</a:t>
            </a:r>
            <a:endParaRPr lang="en-US">
              <a:ln>
                <a:solidFill>
                  <a:prstClr val="black">
                    <a:lumMod val="75000"/>
                    <a:lumOff val="25000"/>
                    <a:alpha val="10000"/>
                  </a:prstClr>
                </a:solidFill>
              </a:ln>
              <a:effectLst>
                <a:outerShdw blurRad="9525" dist="25400" dir="14640000" algn="tl" rotWithShape="0">
                  <a:prstClr val="black">
                    <a:alpha val="30000"/>
                  </a:prstClr>
                </a:outerShdw>
              </a:effectLst>
            </a:endParaRPr>
          </a:p>
          <a:p>
            <a:pPr marL="36830"/>
            <a:r>
              <a:rPr lang="en-US"/>
              <a:t>Capitalize</a:t>
            </a:r>
            <a:r>
              <a:rPr lang="en-US" dirty="0"/>
              <a:t> on high-performing days (e.g., Tuesdays) with upselling or premium strategies.</a:t>
            </a:r>
            <a:endParaRPr lang="en-US" dirty="0">
              <a:ln>
                <a:solidFill>
                  <a:prstClr val="black">
                    <a:lumMod val="75000"/>
                    <a:lumOff val="25000"/>
                    <a:alpha val="10000"/>
                  </a:prstClr>
                </a:solidFill>
              </a:ln>
              <a:effectLst>
                <a:outerShdw blurRad="9525" dist="25400" dir="14640000" algn="tl" rotWithShape="0">
                  <a:prstClr val="black">
                    <a:alpha val="30000"/>
                  </a:prstClr>
                </a:outerShdw>
              </a:effectLst>
            </a:endParaRPr>
          </a:p>
        </p:txBody>
      </p:sp>
      <p:pic>
        <p:nvPicPr>
          <p:cNvPr id="17" name="Picture Placeholder 16" descr="A person in a suit reading">
            <a:extLst>
              <a:ext uri="{FF2B5EF4-FFF2-40B4-BE49-F238E27FC236}">
                <a16:creationId xmlns:a16="http://schemas.microsoft.com/office/drawing/2014/main" id="{6C8EEEE5-2A61-87BA-0FE4-E0D8A1A3BE92}"/>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11113" y="0"/>
            <a:ext cx="4583113" cy="6858000"/>
          </a:xfrm>
        </p:spPr>
      </p:pic>
      <p:sp>
        <p:nvSpPr>
          <p:cNvPr id="4" name="Footer Placeholder 3">
            <a:extLst>
              <a:ext uri="{FF2B5EF4-FFF2-40B4-BE49-F238E27FC236}">
                <a16:creationId xmlns:a16="http://schemas.microsoft.com/office/drawing/2014/main" id="{4E8F0D88-FA7E-DEF5-5FE4-5BADF33F89A5}"/>
              </a:ext>
            </a:extLst>
          </p:cNvPr>
          <p:cNvSpPr>
            <a:spLocks noGrp="1"/>
          </p:cNvSpPr>
          <p:nvPr>
            <p:ph type="ftr" sz="quarter" idx="11"/>
          </p:nvPr>
        </p:nvSpPr>
        <p:spPr/>
        <p:txBody>
          <a:bodyPr/>
          <a:lstStyle/>
          <a:p>
            <a:r>
              <a:rPr lang="en-US"/>
              <a:t>Sample footer text</a:t>
            </a:r>
          </a:p>
        </p:txBody>
      </p:sp>
      <p:sp>
        <p:nvSpPr>
          <p:cNvPr id="19" name="Slide Number Placeholder 5">
            <a:extLst>
              <a:ext uri="{FF2B5EF4-FFF2-40B4-BE49-F238E27FC236}">
                <a16:creationId xmlns:a16="http://schemas.microsoft.com/office/drawing/2014/main" id="{5C301D24-95AC-1F8E-CB57-41E38BA8153D}"/>
              </a:ext>
            </a:extLst>
          </p:cNvPr>
          <p:cNvSpPr>
            <a:spLocks noGrp="1"/>
          </p:cNvSpPr>
          <p:nvPr>
            <p:ph type="sldNum" sz="quarter" idx="12"/>
          </p:nvPr>
        </p:nvSpPr>
        <p:spPr>
          <a:xfrm>
            <a:off x="10514011" y="6000749"/>
            <a:ext cx="753545" cy="365125"/>
          </a:xfrm>
        </p:spPr>
        <p:txBody>
          <a:bodyPr/>
          <a:lstStyle/>
          <a:p>
            <a:fld id="{3A98EE3D-8CD1-4C3F-BD1C-C98C9596463C}" type="slidenum">
              <a:rPr lang="en-US" smtClean="0"/>
              <a:pPr/>
              <a:t>12</a:t>
            </a:fld>
            <a:endParaRPr lang="en-US"/>
          </a:p>
        </p:txBody>
      </p:sp>
    </p:spTree>
    <p:extLst>
      <p:ext uri="{BB962C8B-B14F-4D97-AF65-F5344CB8AC3E}">
        <p14:creationId xmlns:p14="http://schemas.microsoft.com/office/powerpoint/2010/main" val="2244695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Placeholder 22" descr="A person sitting in a chair">
            <a:extLst>
              <a:ext uri="{FF2B5EF4-FFF2-40B4-BE49-F238E27FC236}">
                <a16:creationId xmlns:a16="http://schemas.microsoft.com/office/drawing/2014/main" id="{D7295B9C-2CB9-499D-8649-8B68BCBBD20C}"/>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0" y="0"/>
            <a:ext cx="12192000" cy="6858000"/>
          </a:xfrm>
        </p:spPr>
      </p:pic>
      <p:sp useBgFill="1">
        <p:nvSpPr>
          <p:cNvPr id="2" name="Title 1"/>
          <p:cNvSpPr>
            <a:spLocks noGrp="1"/>
          </p:cNvSpPr>
          <p:nvPr>
            <p:ph type="ctrTitle"/>
          </p:nvPr>
        </p:nvSpPr>
        <p:spPr>
          <a:xfrm>
            <a:off x="1146676" y="1572884"/>
            <a:ext cx="4100417" cy="2585050"/>
          </a:xfrm>
        </p:spPr>
        <p:txBody>
          <a:bodyPr>
            <a:normAutofit/>
          </a:bodyPr>
          <a:lstStyle/>
          <a:p>
            <a:r>
              <a:rPr lang="en-US"/>
              <a:t>Thank you</a:t>
            </a:r>
          </a:p>
        </p:txBody>
      </p:sp>
      <p:sp useBgFill="1">
        <p:nvSpPr>
          <p:cNvPr id="3" name="Subtitle 2" descr="Tag=AccentColor&#10;Flavor=Light&#10;Target=Text"/>
          <p:cNvSpPr>
            <a:spLocks noGrp="1"/>
          </p:cNvSpPr>
          <p:nvPr>
            <p:ph type="subTitle" idx="1"/>
          </p:nvPr>
        </p:nvSpPr>
        <p:spPr>
          <a:xfrm>
            <a:off x="1146675" y="4157934"/>
            <a:ext cx="4100418" cy="1446364"/>
          </a:xfrm>
        </p:spPr>
        <p:txBody>
          <a:bodyPr>
            <a:normAutofit/>
          </a:bodyPr>
          <a:lstStyle/>
          <a:p>
            <a:r>
              <a:rPr lang="en-GB"/>
              <a:t>Polite M. </a:t>
            </a:r>
            <a:r>
              <a:rPr lang="en-GB" err="1"/>
              <a:t>Molatlhegi</a:t>
            </a:r>
            <a:r>
              <a:rPr lang="en-GB"/>
              <a:t> </a:t>
            </a:r>
            <a:endParaRPr lang="en-US"/>
          </a:p>
          <a:p>
            <a:r>
              <a:rPr lang="en-GB">
                <a:hlinkClick r:id="rId4"/>
              </a:rPr>
              <a:t>molatlhegipolitemasego@gmail.com</a:t>
            </a:r>
            <a:r>
              <a:rPr lang="en-GB"/>
              <a:t> </a:t>
            </a:r>
          </a:p>
          <a:p>
            <a:r>
              <a:rPr lang="en-GB"/>
              <a:t>Brightlearn</a:t>
            </a:r>
            <a:endParaRPr lang="en-US"/>
          </a:p>
          <a:p>
            <a:pPr marL="36900" indent="0">
              <a:buNone/>
            </a:pPr>
            <a:endParaRPr lang="en-US"/>
          </a:p>
          <a:p>
            <a:endParaRPr lang="en-US"/>
          </a:p>
        </p:txBody>
      </p:sp>
      <p:sp>
        <p:nvSpPr>
          <p:cNvPr id="7" name="Footer Placeholder 4">
            <a:extLst>
              <a:ext uri="{FF2B5EF4-FFF2-40B4-BE49-F238E27FC236}">
                <a16:creationId xmlns:a16="http://schemas.microsoft.com/office/drawing/2014/main" id="{F6A038F3-7410-4D47-B069-E4BE5999140F}"/>
              </a:ext>
            </a:extLst>
          </p:cNvPr>
          <p:cNvSpPr>
            <a:spLocks noGrp="1"/>
          </p:cNvSpPr>
          <p:nvPr>
            <p:ph type="ftr" sz="quarter" idx="11"/>
          </p:nvPr>
        </p:nvSpPr>
        <p:spPr>
          <a:xfrm>
            <a:off x="913795" y="6000749"/>
            <a:ext cx="6672865" cy="365125"/>
          </a:xfrm>
        </p:spPr>
        <p:txBody>
          <a:bodyPr/>
          <a:lstStyle/>
          <a:p>
            <a:r>
              <a:rPr lang="en-US"/>
              <a:t>Sample footer text</a:t>
            </a:r>
          </a:p>
        </p:txBody>
      </p:sp>
      <p:sp>
        <p:nvSpPr>
          <p:cNvPr id="8" name="Slide Number Placeholder 5">
            <a:extLst>
              <a:ext uri="{FF2B5EF4-FFF2-40B4-BE49-F238E27FC236}">
                <a16:creationId xmlns:a16="http://schemas.microsoft.com/office/drawing/2014/main" id="{A3976785-1E20-4209-911D-22069764DCD4}"/>
              </a:ext>
            </a:extLst>
          </p:cNvPr>
          <p:cNvSpPr>
            <a:spLocks noGrp="1"/>
          </p:cNvSpPr>
          <p:nvPr>
            <p:ph type="sldNum" sz="quarter" idx="12"/>
          </p:nvPr>
        </p:nvSpPr>
        <p:spPr>
          <a:xfrm>
            <a:off x="10514011" y="6000749"/>
            <a:ext cx="753545" cy="365125"/>
          </a:xfrm>
        </p:spPr>
        <p:txBody>
          <a:bodyPr/>
          <a:lstStyle/>
          <a:p>
            <a:fld id="{3A98EE3D-8CD1-4C3F-BD1C-C98C9596463C}" type="slidenum">
              <a:rPr lang="en-US" smtClean="0"/>
              <a:pPr/>
              <a:t>13</a:t>
            </a:fld>
            <a:endParaRPr lang="en-US"/>
          </a:p>
        </p:txBody>
      </p:sp>
    </p:spTree>
    <p:extLst>
      <p:ext uri="{BB962C8B-B14F-4D97-AF65-F5344CB8AC3E}">
        <p14:creationId xmlns:p14="http://schemas.microsoft.com/office/powerpoint/2010/main" val="42685096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6BC6E15-AA89-44FE-BE09-C297161C1683}">
  <ds:schemaRefs>
    <ds:schemaRef ds:uri="16c05727-aa75-4e4a-9b5f-8a80a1165891"/>
    <ds:schemaRef ds:uri="230e9df3-be65-4c73-a93b-d1236ebd677e"/>
    <ds:schemaRef ds:uri="71af3243-3dd4-4a8d-8c0d-dd76da1f02a5"/>
    <ds:schemaRef ds:uri="http://schemas.microsoft.com/office/2006/metadata/contentType"/>
    <ds:schemaRef ds:uri="http://schemas.microsoft.com/office/2006/metadata/properties/metaAttributes"/>
    <ds:schemaRef ds:uri="http://schemas.microsoft.com/sharepoint/v3"/>
    <ds:schemaRef ds:uri="http://www.w3.org/2000/xmlns/"/>
    <ds:schemaRef ds:uri="http://www.w3.org/2001/XMLSchem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EC2E3F1-BC53-4890-9C40-8815EC5A1FD9}">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 ds:uri="http://www.w3.org/2000/xmlns/"/>
    <ds:schemaRef ds:uri="http://www.w3.org/2001/XMLSchema-instance"/>
  </ds:schemaRefs>
</ds:datastoreItem>
</file>

<file path=customXml/itemProps3.xml><?xml version="1.0" encoding="utf-8"?>
<ds:datastoreItem xmlns:ds="http://schemas.openxmlformats.org/officeDocument/2006/customXml" ds:itemID="{183051C4-2D79-448E-99B6-938DB95EAB8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_SlateVTI</Template>
  <Application>Microsoft Office PowerPoint</Application>
  <PresentationFormat>Widescreen</PresentationFormat>
  <Slides>13</Slides>
  <Notes>5</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SlateVTI</vt:lpstr>
      <vt:lpstr>BRIGHT COFFEE: 6 MONTHS SALES OVERVIEW</vt:lpstr>
      <vt:lpstr>OBJECTIVE</vt:lpstr>
      <vt:lpstr>REVENUE BY PRODUCT</vt:lpstr>
      <vt:lpstr>REVENUE BY STORE</vt:lpstr>
      <vt:lpstr>MONTHLY REVENUE BY STORE</vt:lpstr>
      <vt:lpstr>REVENUE VS NUMBER OF SALES</vt:lpstr>
      <vt:lpstr>TOP PRODUCTS</vt:lpstr>
      <vt:lpstr>PRODUCT STRATEGY BY STORE</vt:lpstr>
      <vt:lpstr>TIME OF DAY BEHAVIOR </vt:lpstr>
      <vt:lpstr>PEAK PERIODS</vt:lpstr>
      <vt:lpstr>KEY INSIGHTS</vt:lpstr>
      <vt:lpstr>RECOMMENDATIONS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BRIGHT COFFEE: 6 MONTHS SALES OVERVIEW</dc:title>
  <dc:creator/>
  <cp:revision>240</cp:revision>
  <dcterms:created xsi:type="dcterms:W3CDTF">2026-03-28T16:14:31Z</dcterms:created>
  <dcterms:modified xsi:type="dcterms:W3CDTF">2026-03-29T22:22:05Z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